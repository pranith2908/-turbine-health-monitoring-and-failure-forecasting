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8" r:id="rId3"/>
    <p:sldId id="257"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1544DD6-0691-446B-ABFE-95BFDB0F8875}" v="3" dt="2026-04-21T14:22:55.86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94660"/>
  </p:normalViewPr>
  <p:slideViewPr>
    <p:cSldViewPr snapToGrid="0">
      <p:cViewPr varScale="1">
        <p:scale>
          <a:sx n="64" d="100"/>
          <a:sy n="64" d="100"/>
        </p:scale>
        <p:origin x="978"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ranithreddy Kasireddy" userId="019c6c71fbb379fc" providerId="LiveId" clId="{E59972E7-DB82-4562-9EDB-5923210EB240}"/>
    <pc:docChg chg="custSel modSld">
      <pc:chgData name="Pranithreddy Kasireddy" userId="019c6c71fbb379fc" providerId="LiveId" clId="{E59972E7-DB82-4562-9EDB-5923210EB240}" dt="2026-04-21T14:22:55.860" v="51"/>
      <pc:docMkLst>
        <pc:docMk/>
      </pc:docMkLst>
      <pc:sldChg chg="modSp">
        <pc:chgData name="Pranithreddy Kasireddy" userId="019c6c71fbb379fc" providerId="LiveId" clId="{E59972E7-DB82-4562-9EDB-5923210EB240}" dt="2026-04-21T14:22:55.860" v="51"/>
        <pc:sldMkLst>
          <pc:docMk/>
          <pc:sldMk cId="3444916359" sldId="258"/>
        </pc:sldMkLst>
        <pc:spChg chg="mod">
          <ac:chgData name="Pranithreddy Kasireddy" userId="019c6c71fbb379fc" providerId="LiveId" clId="{E59972E7-DB82-4562-9EDB-5923210EB240}" dt="2026-04-21T14:22:55.860" v="51"/>
          <ac:spMkLst>
            <pc:docMk/>
            <pc:sldMk cId="3444916359" sldId="258"/>
            <ac:spMk id="2" creationId="{794855CD-2347-26AD-BB00-3477E5D29900}"/>
          </ac:spMkLst>
        </pc:spChg>
      </pc:sldChg>
      <pc:sldChg chg="modSp mod">
        <pc:chgData name="Pranithreddy Kasireddy" userId="019c6c71fbb379fc" providerId="LiveId" clId="{E59972E7-DB82-4562-9EDB-5923210EB240}" dt="2026-04-21T05:59:59.873" v="48" actId="27636"/>
        <pc:sldMkLst>
          <pc:docMk/>
          <pc:sldMk cId="1691007499" sldId="259"/>
        </pc:sldMkLst>
        <pc:spChg chg="mod">
          <ac:chgData name="Pranithreddy Kasireddy" userId="019c6c71fbb379fc" providerId="LiveId" clId="{E59972E7-DB82-4562-9EDB-5923210EB240}" dt="2026-04-21T05:59:59.873" v="48" actId="27636"/>
          <ac:spMkLst>
            <pc:docMk/>
            <pc:sldMk cId="1691007499" sldId="259"/>
            <ac:spMk id="3" creationId="{7EF56A02-20F2-7BDC-7A2D-9373DAC52C98}"/>
          </ac:spMkLst>
        </pc:spChg>
      </pc:sldChg>
      <pc:sldChg chg="modSp mod">
        <pc:chgData name="Pranithreddy Kasireddy" userId="019c6c71fbb379fc" providerId="LiveId" clId="{E59972E7-DB82-4562-9EDB-5923210EB240}" dt="2026-04-21T05:50:08.422" v="26" actId="5793"/>
        <pc:sldMkLst>
          <pc:docMk/>
          <pc:sldMk cId="2583767832" sldId="267"/>
        </pc:sldMkLst>
        <pc:spChg chg="mod">
          <ac:chgData name="Pranithreddy Kasireddy" userId="019c6c71fbb379fc" providerId="LiveId" clId="{E59972E7-DB82-4562-9EDB-5923210EB240}" dt="2026-04-21T05:50:08.422" v="26" actId="5793"/>
          <ac:spMkLst>
            <pc:docMk/>
            <pc:sldMk cId="2583767832" sldId="267"/>
            <ac:spMk id="3" creationId="{85518FD2-93EB-6CEB-AC0F-B1F4E424E2B6}"/>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95269" y="1122363"/>
            <a:ext cx="9001462" cy="2387600"/>
          </a:xfrm>
        </p:spPr>
        <p:txBody>
          <a:bodyPr anchor="b">
            <a:normAutofit/>
          </a:bodyPr>
          <a:lstStyle>
            <a:lvl1pPr algn="ctr">
              <a:defRPr sz="4800"/>
            </a:lvl1pPr>
          </a:lstStyle>
          <a:p>
            <a:r>
              <a:rPr lang="en-US"/>
              <a:t>Click to edit Master title style</a:t>
            </a:r>
            <a:endParaRPr lang="en-US" dirty="0"/>
          </a:p>
        </p:txBody>
      </p:sp>
      <p:sp>
        <p:nvSpPr>
          <p:cNvPr id="3" name="Subtitle 2"/>
          <p:cNvSpPr>
            <a:spLocks noGrp="1"/>
          </p:cNvSpPr>
          <p:nvPr>
            <p:ph type="subTitle" idx="1"/>
          </p:nvPr>
        </p:nvSpPr>
        <p:spPr>
          <a:xfrm>
            <a:off x="1595269" y="3602038"/>
            <a:ext cx="9001462"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EA4F07D-2052-49CB-8878-F1C2E848C9E9}" type="datetimeFigureOut">
              <a:rPr lang="en-IN" smtClean="0"/>
              <a:t>22-04-2026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F5E436E-A165-4D12-8149-0805485A4A6E}" type="slidenum">
              <a:rPr lang="en-IN" smtClean="0"/>
              <a:t>‹#›</a:t>
            </a:fld>
            <a:endParaRPr lang="en-IN"/>
          </a:p>
        </p:txBody>
      </p:sp>
    </p:spTree>
    <p:extLst>
      <p:ext uri="{BB962C8B-B14F-4D97-AF65-F5344CB8AC3E}">
        <p14:creationId xmlns:p14="http://schemas.microsoft.com/office/powerpoint/2010/main" val="17794293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EA4F07D-2052-49CB-8878-F1C2E848C9E9}" type="datetimeFigureOut">
              <a:rPr lang="en-IN" smtClean="0"/>
              <a:t>22-04-2026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F5E436E-A165-4D12-8149-0805485A4A6E}" type="slidenum">
              <a:rPr lang="en-IN" smtClean="0"/>
              <a:t>‹#›</a:t>
            </a:fld>
            <a:endParaRPr lang="en-IN"/>
          </a:p>
        </p:txBody>
      </p:sp>
    </p:spTree>
    <p:extLst>
      <p:ext uri="{BB962C8B-B14F-4D97-AF65-F5344CB8AC3E}">
        <p14:creationId xmlns:p14="http://schemas.microsoft.com/office/powerpoint/2010/main" val="11269331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29244" y="657226"/>
            <a:ext cx="9733512" cy="2852737"/>
          </a:xfrm>
        </p:spPr>
        <p:txBody>
          <a:bodyPr anchor="b">
            <a:normAutofit/>
          </a:bodyPr>
          <a:lstStyle>
            <a:lvl1pPr>
              <a:defRPr sz="3400"/>
            </a:lvl1pPr>
          </a:lstStyle>
          <a:p>
            <a:r>
              <a:rPr lang="en-US"/>
              <a:t>Click to edit Master title style</a:t>
            </a:r>
            <a:endParaRPr lang="en-US" dirty="0"/>
          </a:p>
        </p:txBody>
      </p:sp>
      <p:sp>
        <p:nvSpPr>
          <p:cNvPr id="3" name="Text Placeholder 2"/>
          <p:cNvSpPr>
            <a:spLocks noGrp="1"/>
          </p:cNvSpPr>
          <p:nvPr>
            <p:ph type="body" idx="1"/>
          </p:nvPr>
        </p:nvSpPr>
        <p:spPr>
          <a:xfrm>
            <a:off x="1229244" y="3602038"/>
            <a:ext cx="9733512" cy="1500187"/>
          </a:xfrm>
        </p:spPr>
        <p:txBody>
          <a:bodyPr/>
          <a:lstStyle>
            <a:lvl1pPr marL="0" indent="0" algn="ctr">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EA4F07D-2052-49CB-8878-F1C2E848C9E9}" type="datetimeFigureOut">
              <a:rPr lang="en-IN" smtClean="0"/>
              <a:t>22-04-2026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F5E436E-A165-4D12-8149-0805485A4A6E}" type="slidenum">
              <a:rPr lang="en-IN" smtClean="0"/>
              <a:t>‹#›</a:t>
            </a:fld>
            <a:endParaRPr lang="en-IN"/>
          </a:p>
        </p:txBody>
      </p:sp>
    </p:spTree>
    <p:extLst>
      <p:ext uri="{BB962C8B-B14F-4D97-AF65-F5344CB8AC3E}">
        <p14:creationId xmlns:p14="http://schemas.microsoft.com/office/powerpoint/2010/main" val="30447925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6321"/>
          </a:xfrm>
        </p:spPr>
        <p:txBody>
          <a:bodyPr/>
          <a:lstStyle/>
          <a:p>
            <a:r>
              <a:rPr lang="en-US"/>
              <a:t>Click to edit Master title style</a:t>
            </a:r>
            <a:endParaRPr lang="en-US" dirty="0"/>
          </a:p>
        </p:txBody>
      </p:sp>
      <p:sp>
        <p:nvSpPr>
          <p:cNvPr id="3" name="Content Placeholder 2"/>
          <p:cNvSpPr>
            <a:spLocks noGrp="1"/>
          </p:cNvSpPr>
          <p:nvPr>
            <p:ph sz="half" idx="1"/>
          </p:nvPr>
        </p:nvSpPr>
        <p:spPr>
          <a:xfrm>
            <a:off x="913795" y="2088319"/>
            <a:ext cx="5106004" cy="37028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3403" y="2088319"/>
            <a:ext cx="5094154" cy="37028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EA4F07D-2052-49CB-8878-F1C2E848C9E9}" type="datetimeFigureOut">
              <a:rPr lang="en-IN" smtClean="0"/>
              <a:t>22-04-2026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F5E436E-A165-4D12-8149-0805485A4A6E}" type="slidenum">
              <a:rPr lang="en-IN" smtClean="0"/>
              <a:t>‹#›</a:t>
            </a:fld>
            <a:endParaRPr lang="en-IN"/>
          </a:p>
        </p:txBody>
      </p:sp>
    </p:spTree>
    <p:extLst>
      <p:ext uri="{BB962C8B-B14F-4D97-AF65-F5344CB8AC3E}">
        <p14:creationId xmlns:p14="http://schemas.microsoft.com/office/powerpoint/2010/main" val="1202891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41804" y="2088320"/>
            <a:ext cx="4879199"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913795" y="2912232"/>
            <a:ext cx="5107208" cy="28789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2003" y="2088320"/>
            <a:ext cx="4865554"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912232"/>
            <a:ext cx="5095357" cy="28789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EA4F07D-2052-49CB-8878-F1C2E848C9E9}" type="datetimeFigureOut">
              <a:rPr lang="en-IN" smtClean="0"/>
              <a:t>22-04-2026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3F5E436E-A165-4D12-8149-0805485A4A6E}" type="slidenum">
              <a:rPr lang="en-IN" smtClean="0"/>
              <a:t>‹#›</a:t>
            </a:fld>
            <a:endParaRPr lang="en-IN"/>
          </a:p>
        </p:txBody>
      </p:sp>
    </p:spTree>
    <p:extLst>
      <p:ext uri="{BB962C8B-B14F-4D97-AF65-F5344CB8AC3E}">
        <p14:creationId xmlns:p14="http://schemas.microsoft.com/office/powerpoint/2010/main" val="8435069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EA4F07D-2052-49CB-8878-F1C2E848C9E9}" type="datetimeFigureOut">
              <a:rPr lang="en-IN" smtClean="0"/>
              <a:t>22-04-2026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3F5E436E-A165-4D12-8149-0805485A4A6E}" type="slidenum">
              <a:rPr lang="en-IN" smtClean="0"/>
              <a:t>‹#›</a:t>
            </a:fld>
            <a:endParaRPr lang="en-IN"/>
          </a:p>
        </p:txBody>
      </p:sp>
    </p:spTree>
    <p:extLst>
      <p:ext uri="{BB962C8B-B14F-4D97-AF65-F5344CB8AC3E}">
        <p14:creationId xmlns:p14="http://schemas.microsoft.com/office/powerpoint/2010/main" val="22913462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EA4F07D-2052-49CB-8878-F1C2E848C9E9}" type="datetimeFigureOut">
              <a:rPr lang="en-IN" smtClean="0"/>
              <a:t>22-04-2026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3F5E436E-A165-4D12-8149-0805485A4A6E}" type="slidenum">
              <a:rPr lang="en-IN" smtClean="0"/>
              <a:t>‹#›</a:t>
            </a:fld>
            <a:endParaRPr lang="en-IN"/>
          </a:p>
        </p:txBody>
      </p:sp>
    </p:spTree>
    <p:extLst>
      <p:ext uri="{BB962C8B-B14F-4D97-AF65-F5344CB8AC3E}">
        <p14:creationId xmlns:p14="http://schemas.microsoft.com/office/powerpoint/2010/main" val="142261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7228" y="609600"/>
            <a:ext cx="3932237" cy="2362200"/>
          </a:xfrm>
        </p:spPr>
        <p:txBody>
          <a:bodyPr anchor="b">
            <a:normAutofit/>
          </a:bodyPr>
          <a:lstStyle>
            <a:lvl1pPr>
              <a:defRPr sz="2800"/>
            </a:lvl1pPr>
          </a:lstStyle>
          <a:p>
            <a:r>
              <a:rPr lang="en-US"/>
              <a:t>Click to edit Master title style</a:t>
            </a:r>
            <a:endParaRPr lang="en-US" dirty="0"/>
          </a:p>
        </p:txBody>
      </p:sp>
      <p:sp>
        <p:nvSpPr>
          <p:cNvPr id="3" name="Content Placeholder 2"/>
          <p:cNvSpPr>
            <a:spLocks noGrp="1"/>
          </p:cNvSpPr>
          <p:nvPr>
            <p:ph idx="1"/>
          </p:nvPr>
        </p:nvSpPr>
        <p:spPr>
          <a:xfrm>
            <a:off x="5078064" y="609600"/>
            <a:ext cx="6189492" cy="5181600"/>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7228" y="2971800"/>
            <a:ext cx="3932237" cy="2819399"/>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EA4F07D-2052-49CB-8878-F1C2E848C9E9}" type="datetimeFigureOut">
              <a:rPr lang="en-IN" smtClean="0"/>
              <a:t>22-04-2026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F5E436E-A165-4D12-8149-0805485A4A6E}" type="slidenum">
              <a:rPr lang="en-IN" smtClean="0"/>
              <a:t>‹#›</a:t>
            </a:fld>
            <a:endParaRPr lang="en-IN"/>
          </a:p>
        </p:txBody>
      </p:sp>
    </p:spTree>
    <p:extLst>
      <p:ext uri="{BB962C8B-B14F-4D97-AF65-F5344CB8AC3E}">
        <p14:creationId xmlns:p14="http://schemas.microsoft.com/office/powerpoint/2010/main" val="1730662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7227" y="609600"/>
            <a:ext cx="5929773" cy="2362200"/>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24804" y="758881"/>
            <a:ext cx="3255356" cy="4883038"/>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4" y="2971800"/>
            <a:ext cx="5934950" cy="2819400"/>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EA4F07D-2052-49CB-8878-F1C2E848C9E9}" type="datetimeFigureOut">
              <a:rPr lang="en-IN" smtClean="0"/>
              <a:t>22-04-2026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F5E436E-A165-4D12-8149-0805485A4A6E}" type="slidenum">
              <a:rPr lang="en-IN" smtClean="0"/>
              <a:t>‹#›</a:t>
            </a:fld>
            <a:endParaRPr lang="en-IN"/>
          </a:p>
        </p:txBody>
      </p:sp>
    </p:spTree>
    <p:extLst>
      <p:ext uri="{BB962C8B-B14F-4D97-AF65-F5344CB8AC3E}">
        <p14:creationId xmlns:p14="http://schemas.microsoft.com/office/powerpoint/2010/main" val="25574917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806" y="4289372"/>
            <a:ext cx="10367564" cy="819355"/>
          </a:xfrm>
        </p:spPr>
        <p:txBody>
          <a:bodyPr anchor="b">
            <a:normAutofit/>
          </a:bodyPr>
          <a:lstStyle>
            <a:lvl1pP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913806" y="621321"/>
            <a:ext cx="10367564" cy="3379735"/>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5" y="5108728"/>
            <a:ext cx="10365998" cy="682472"/>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EA4F07D-2052-49CB-8878-F1C2E848C9E9}" type="datetimeFigureOut">
              <a:rPr lang="en-IN" smtClean="0"/>
              <a:t>22-04-2026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F5E436E-A165-4D12-8149-0805485A4A6E}" type="slidenum">
              <a:rPr lang="en-IN" smtClean="0"/>
              <a:t>‹#›</a:t>
            </a:fld>
            <a:endParaRPr lang="en-IN"/>
          </a:p>
        </p:txBody>
      </p:sp>
    </p:spTree>
    <p:extLst>
      <p:ext uri="{BB962C8B-B14F-4D97-AF65-F5344CB8AC3E}">
        <p14:creationId xmlns:p14="http://schemas.microsoft.com/office/powerpoint/2010/main" val="23813872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2" cy="3424859"/>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5" y="4204820"/>
            <a:ext cx="10353761" cy="159218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EA4F07D-2052-49CB-8878-F1C2E848C9E9}" type="datetimeFigureOut">
              <a:rPr lang="en-IN" smtClean="0"/>
              <a:t>22-04-2026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F5E436E-A165-4D12-8149-0805485A4A6E}" type="slidenum">
              <a:rPr lang="en-IN" smtClean="0"/>
              <a:t>‹#›</a:t>
            </a:fld>
            <a:endParaRPr lang="en-IN"/>
          </a:p>
        </p:txBody>
      </p:sp>
    </p:spTree>
    <p:extLst>
      <p:ext uri="{BB962C8B-B14F-4D97-AF65-F5344CB8AC3E}">
        <p14:creationId xmlns:p14="http://schemas.microsoft.com/office/powerpoint/2010/main" val="16941386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426812"/>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94" y="4204821"/>
            <a:ext cx="10353762" cy="1586380"/>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EA4F07D-2052-49CB-8878-F1C2E848C9E9}" type="datetimeFigureOut">
              <a:rPr lang="en-IN" smtClean="0"/>
              <a:t>22-04-2026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F5E436E-A165-4D12-8149-0805485A4A6E}" type="slidenum">
              <a:rPr lang="en-IN" smtClean="0"/>
              <a:t>‹#›</a:t>
            </a:fld>
            <a:endParaRPr lang="en-IN"/>
          </a:p>
        </p:txBody>
      </p:sp>
      <p:sp>
        <p:nvSpPr>
          <p:cNvPr id="11" name="TextBox 10"/>
          <p:cNvSpPr txBox="1"/>
          <p:nvPr/>
        </p:nvSpPr>
        <p:spPr>
          <a:xfrm>
            <a:off x="836612" y="735241"/>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657956" y="297209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368490617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806" y="2126942"/>
            <a:ext cx="10355327"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4" y="4650556"/>
            <a:ext cx="10353763"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EA4F07D-2052-49CB-8878-F1C2E848C9E9}" type="datetimeFigureOut">
              <a:rPr lang="en-IN" smtClean="0"/>
              <a:t>22-04-2026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F5E436E-A165-4D12-8149-0805485A4A6E}" type="slidenum">
              <a:rPr lang="en-IN" smtClean="0"/>
              <a:t>‹#›</a:t>
            </a:fld>
            <a:endParaRPr lang="en-IN"/>
          </a:p>
        </p:txBody>
      </p:sp>
    </p:spTree>
    <p:extLst>
      <p:ext uri="{BB962C8B-B14F-4D97-AF65-F5344CB8AC3E}">
        <p14:creationId xmlns:p14="http://schemas.microsoft.com/office/powerpoint/2010/main" val="214053196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4" y="609600"/>
            <a:ext cx="10353762" cy="1325563"/>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94" y="2088319"/>
            <a:ext cx="3298956" cy="823305"/>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94" y="2911624"/>
            <a:ext cx="3298956"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44878" y="2088320"/>
            <a:ext cx="3298558"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4878" y="2911624"/>
            <a:ext cx="329982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73298" y="2088320"/>
            <a:ext cx="3291211"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76346" y="2911624"/>
            <a:ext cx="329121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9EA4F07D-2052-49CB-8878-F1C2E848C9E9}" type="datetimeFigureOut">
              <a:rPr lang="en-IN" smtClean="0"/>
              <a:t>22-04-2026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3F5E436E-A165-4D12-8149-0805485A4A6E}" type="slidenum">
              <a:rPr lang="en-IN" smtClean="0"/>
              <a:t>‹#›</a:t>
            </a:fld>
            <a:endParaRPr lang="en-IN"/>
          </a:p>
        </p:txBody>
      </p:sp>
    </p:spTree>
    <p:extLst>
      <p:ext uri="{BB962C8B-B14F-4D97-AF65-F5344CB8AC3E}">
        <p14:creationId xmlns:p14="http://schemas.microsoft.com/office/powerpoint/2010/main" val="175187611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913795" y="609600"/>
            <a:ext cx="10353762" cy="1325563"/>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95" y="4195899"/>
            <a:ext cx="3298955"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092020" y="2298987"/>
            <a:ext cx="2940050"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95" y="4772161"/>
            <a:ext cx="3298955"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01" y="4195899"/>
            <a:ext cx="3298983"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68996" y="2298987"/>
            <a:ext cx="2930525"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348" y="4772160"/>
            <a:ext cx="3300336"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73423" y="4195899"/>
            <a:ext cx="3289900"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152803" y="2298987"/>
            <a:ext cx="2932113"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73298" y="4772161"/>
            <a:ext cx="3294258" cy="1019037"/>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9EA4F07D-2052-49CB-8878-F1C2E848C9E9}" type="datetimeFigureOut">
              <a:rPr lang="en-IN" smtClean="0"/>
              <a:t>22-04-2026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3F5E436E-A165-4D12-8149-0805485A4A6E}" type="slidenum">
              <a:rPr lang="en-IN" smtClean="0"/>
              <a:t>‹#›</a:t>
            </a:fld>
            <a:endParaRPr lang="en-IN"/>
          </a:p>
        </p:txBody>
      </p:sp>
    </p:spTree>
    <p:extLst>
      <p:ext uri="{BB962C8B-B14F-4D97-AF65-F5344CB8AC3E}">
        <p14:creationId xmlns:p14="http://schemas.microsoft.com/office/powerpoint/2010/main" val="143764025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EA4F07D-2052-49CB-8878-F1C2E848C9E9}" type="datetimeFigureOut">
              <a:rPr lang="en-IN" smtClean="0"/>
              <a:t>22-04-2026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F5E436E-A165-4D12-8149-0805485A4A6E}" type="slidenum">
              <a:rPr lang="en-IN" smtClean="0"/>
              <a:t>‹#›</a:t>
            </a:fld>
            <a:endParaRPr lang="en-IN"/>
          </a:p>
        </p:txBody>
      </p:sp>
    </p:spTree>
    <p:extLst>
      <p:ext uri="{BB962C8B-B14F-4D97-AF65-F5344CB8AC3E}">
        <p14:creationId xmlns:p14="http://schemas.microsoft.com/office/powerpoint/2010/main" val="52338024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609599"/>
            <a:ext cx="2542657" cy="5181601"/>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913794" y="609599"/>
            <a:ext cx="7658705"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EA4F07D-2052-49CB-8878-F1C2E848C9E9}" type="datetimeFigureOut">
              <a:rPr lang="en-IN" smtClean="0"/>
              <a:t>22-04-2026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F5E436E-A165-4D12-8149-0805485A4A6E}" type="slidenum">
              <a:rPr lang="en-IN" smtClean="0"/>
              <a:t>‹#›</a:t>
            </a:fld>
            <a:endParaRPr lang="en-IN"/>
          </a:p>
        </p:txBody>
      </p:sp>
    </p:spTree>
    <p:extLst>
      <p:ext uri="{BB962C8B-B14F-4D97-AF65-F5344CB8AC3E}">
        <p14:creationId xmlns:p14="http://schemas.microsoft.com/office/powerpoint/2010/main" val="32013931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1" cy="1326321"/>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95" y="2096064"/>
            <a:ext cx="10353762" cy="369513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9EA4F07D-2052-49CB-8878-F1C2E848C9E9}" type="datetimeFigureOut">
              <a:rPr lang="en-IN" smtClean="0"/>
              <a:t>22-04-2026</a:t>
            </a:fld>
            <a:endParaRPr lang="en-IN"/>
          </a:p>
        </p:txBody>
      </p:sp>
      <p:sp>
        <p:nvSpPr>
          <p:cNvPr id="5" name="Footer Placeholder 4"/>
          <p:cNvSpPr>
            <a:spLocks noGrp="1"/>
          </p:cNvSpPr>
          <p:nvPr>
            <p:ph type="ftr" sz="quarter" idx="3"/>
          </p:nvPr>
        </p:nvSpPr>
        <p:spPr>
          <a:xfrm>
            <a:off x="913794" y="5883275"/>
            <a:ext cx="6672865" cy="365125"/>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3F5E436E-A165-4D12-8149-0805485A4A6E}" type="slidenum">
              <a:rPr lang="en-IN" smtClean="0"/>
              <a:t>‹#›</a:t>
            </a:fld>
            <a:endParaRPr lang="en-IN"/>
          </a:p>
        </p:txBody>
      </p:sp>
    </p:spTree>
    <p:extLst>
      <p:ext uri="{BB962C8B-B14F-4D97-AF65-F5344CB8AC3E}">
        <p14:creationId xmlns:p14="http://schemas.microsoft.com/office/powerpoint/2010/main" val="1944328503"/>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defTabSz="914400" rtl="0" eaLnBrk="1" latinLnBrk="0" hangingPunct="1">
        <a:lnSpc>
          <a:spcPct val="90000"/>
        </a:lnSpc>
        <a:spcBef>
          <a:spcPct val="0"/>
        </a:spcBef>
        <a:buNone/>
        <a:defRPr sz="3400" b="1" i="0" kern="1200" cap="all">
          <a:solidFill>
            <a:schemeClr val="tx1"/>
          </a:solidFill>
          <a:effectLst>
            <a:outerShdw blurRad="50800" dist="63500" dir="2700000" algn="tl" rotWithShape="0">
              <a:srgbClr val="000000">
                <a:alpha val="48000"/>
              </a:srgbClr>
            </a:outerShdw>
          </a:effectLst>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effectLst>
            <a:outerShdw blurRad="50800" dist="38100" dir="2700000" algn="tl" rotWithShape="0">
              <a:srgbClr val="000000">
                <a:alpha val="48000"/>
              </a:srgbClr>
            </a:outerShdw>
          </a:effectLst>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effectLst>
            <a:outerShdw blurRad="50800" dist="38100" dir="2700000" algn="tl" rotWithShape="0">
              <a:srgbClr val="000000">
                <a:alpha val="48000"/>
              </a:srgbClr>
            </a:outerShdw>
          </a:effectLst>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effectLst>
            <a:outerShdw blurRad="50800" dist="38100" dir="2700000" algn="tl" rotWithShape="0">
              <a:srgbClr val="000000">
                <a:alpha val="48000"/>
              </a:srgbClr>
            </a:outerShdw>
          </a:effectLst>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effectLst>
            <a:outerShdw blurRad="50800" dist="38100" dir="2700000" algn="tl" rotWithShape="0">
              <a:srgbClr val="000000">
                <a:alpha val="48000"/>
              </a:srgbClr>
            </a:outerShdw>
          </a:effectLst>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5pPr>
      <a:lvl6pPr marL="25146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6pPr>
      <a:lvl7pPr marL="29718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7pPr>
      <a:lvl8pPr marL="3429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8pPr>
      <a:lvl9pPr marL="3886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DE4167-8867-EBF6-01F3-3DACF31B22F0}"/>
              </a:ext>
            </a:extLst>
          </p:cNvPr>
          <p:cNvSpPr>
            <a:spLocks noGrp="1"/>
          </p:cNvSpPr>
          <p:nvPr>
            <p:ph type="ctrTitle"/>
          </p:nvPr>
        </p:nvSpPr>
        <p:spPr>
          <a:xfrm>
            <a:off x="1595269" y="809470"/>
            <a:ext cx="9001462" cy="3552668"/>
          </a:xfrm>
        </p:spPr>
        <p:txBody>
          <a:bodyPr>
            <a:noAutofit/>
          </a:bodyPr>
          <a:lstStyle/>
          <a:p>
            <a:r>
              <a:rPr lang="en-US" sz="5500" b="1" dirty="0">
                <a:latin typeface="Times New Roman" panose="02020603050405020304" pitchFamily="18" charset="0"/>
                <a:cs typeface="Times New Roman" panose="02020603050405020304" pitchFamily="18" charset="0"/>
              </a:rPr>
              <a:t>Turbine Health Monitoring and Failure Forecasting</a:t>
            </a:r>
            <a:endParaRPr lang="en-IN" sz="5500" b="1"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15F1E89C-3E32-C9E1-9167-5436674597DC}"/>
              </a:ext>
            </a:extLst>
          </p:cNvPr>
          <p:cNvSpPr>
            <a:spLocks noGrp="1"/>
          </p:cNvSpPr>
          <p:nvPr>
            <p:ph type="subTitle" idx="1"/>
          </p:nvPr>
        </p:nvSpPr>
        <p:spPr>
          <a:xfrm>
            <a:off x="2068642" y="3897443"/>
            <a:ext cx="9263922" cy="1603947"/>
          </a:xfrm>
        </p:spPr>
        <p:txBody>
          <a:bodyPr>
            <a:normAutofit fontScale="70000" lnSpcReduction="20000"/>
          </a:bodyPr>
          <a:lstStyle/>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pPr algn="r"/>
            <a:r>
              <a:rPr lang="en-US" dirty="0">
                <a:latin typeface="Times New Roman" panose="02020603050405020304" pitchFamily="18" charset="0"/>
                <a:cs typeface="Times New Roman" panose="02020603050405020304" pitchFamily="18" charset="0"/>
              </a:rPr>
              <a:t>                                                         </a:t>
            </a:r>
            <a:r>
              <a:rPr lang="en-US" sz="3100" dirty="0">
                <a:latin typeface="Times New Roman" panose="02020603050405020304" pitchFamily="18" charset="0"/>
                <a:cs typeface="Times New Roman" panose="02020603050405020304" pitchFamily="18" charset="0"/>
              </a:rPr>
              <a:t>Presented by :- </a:t>
            </a:r>
            <a:r>
              <a:rPr lang="en-US" sz="3100" dirty="0" err="1">
                <a:latin typeface="Times New Roman" panose="02020603050405020304" pitchFamily="18" charset="0"/>
                <a:cs typeface="Times New Roman" panose="02020603050405020304" pitchFamily="18" charset="0"/>
              </a:rPr>
              <a:t>K.Pranith</a:t>
            </a:r>
            <a:r>
              <a:rPr lang="en-US" sz="3100" dirty="0">
                <a:latin typeface="Times New Roman" panose="02020603050405020304" pitchFamily="18" charset="0"/>
                <a:cs typeface="Times New Roman" panose="02020603050405020304" pitchFamily="18" charset="0"/>
              </a:rPr>
              <a:t> Reddy </a:t>
            </a:r>
            <a:endParaRPr lang="en-IN" sz="31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103356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4855CD-2347-26AD-BB00-3477E5D29900}"/>
              </a:ext>
            </a:extLst>
          </p:cNvPr>
          <p:cNvSpPr>
            <a:spLocks noGrp="1"/>
          </p:cNvSpPr>
          <p:nvPr>
            <p:ph type="title"/>
          </p:nvPr>
        </p:nvSpPr>
        <p:spPr>
          <a:xfrm>
            <a:off x="913795" y="609600"/>
            <a:ext cx="10353761" cy="4921770"/>
          </a:xfrm>
        </p:spPr>
        <p:txBody>
          <a:bodyPr>
            <a:normAutofit/>
          </a:bodyPr>
          <a:lstStyle/>
          <a:p>
            <a:pPr marL="457200" indent="-457200" algn="l">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abstract</a:t>
            </a:r>
            <a:br>
              <a:rPr lang="en-US" dirty="0"/>
            </a:br>
            <a:br>
              <a:rPr lang="en-US" dirty="0"/>
            </a:br>
            <a:r>
              <a:rPr lang="en-US" sz="2200" b="0" cap="none"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This Project Develops A Machine Learning Model To Monitor Wind Turbine Health And Predict Potential Failures. By Analyzing Operational Parameters Such As Wind Speed, Temperature, And Vibration, The System Identifies Patterns Leading To Faults. The Model Enables Early Detection Of Failures, Helping To Reduce Downtime, Improve Maintenance Planning, And Enhance Overall Efficiency Of Wind Turbine Operations.</a:t>
            </a:r>
            <a:br>
              <a:rPr lang="en-US" dirty="0">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449163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27C02D-0285-5078-F1DB-23F028D221C8}"/>
              </a:ext>
            </a:extLst>
          </p:cNvPr>
          <p:cNvSpPr>
            <a:spLocks noGrp="1"/>
          </p:cNvSpPr>
          <p:nvPr>
            <p:ph type="title"/>
          </p:nvPr>
        </p:nvSpPr>
        <p:spPr>
          <a:xfrm>
            <a:off x="913795" y="609600"/>
            <a:ext cx="10353762" cy="1668905"/>
          </a:xfrm>
        </p:spPr>
        <p:txBody>
          <a:bodyPr>
            <a:normAutofit/>
          </a:bodyPr>
          <a:lstStyle/>
          <a:p>
            <a:pPr marL="457200" indent="-457200" algn="l">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Objective</a:t>
            </a:r>
            <a:br>
              <a:rPr lang="en-IN" dirty="0">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62E1B927-09EB-826B-8DC0-EECB8377941D}"/>
              </a:ext>
            </a:extLst>
          </p:cNvPr>
          <p:cNvSpPr>
            <a:spLocks noGrp="1"/>
          </p:cNvSpPr>
          <p:nvPr>
            <p:ph type="body" sz="half" idx="2"/>
          </p:nvPr>
        </p:nvSpPr>
        <p:spPr>
          <a:xfrm>
            <a:off x="913795" y="1633927"/>
            <a:ext cx="10353761" cy="4482060"/>
          </a:xfrm>
        </p:spPr>
        <p:txBody>
          <a:bodyPr>
            <a:normAutofit/>
          </a:bodyPr>
          <a:lstStyle/>
          <a:p>
            <a:pPr marL="342900" indent="-342900" algn="l">
              <a:buFont typeface="Wingdings" panose="05000000000000000000" pitchFamily="2" charset="2"/>
              <a:buChar char="§"/>
            </a:pPr>
            <a:r>
              <a:rPr lang="en-US" sz="2200" dirty="0">
                <a:latin typeface="Times New Roman" panose="02020603050405020304" pitchFamily="18" charset="0"/>
                <a:cs typeface="Times New Roman" panose="02020603050405020304" pitchFamily="18" charset="0"/>
              </a:rPr>
              <a:t>The Objective Of This Project Is To Develop A Predictive Model For Monitoring The Health Of Wind Turbines And Forecasting Potential Failures. By Analyzing Key Operational Parameters Such As Windspeed, </a:t>
            </a:r>
            <a:r>
              <a:rPr lang="en-US" sz="2200" dirty="0" err="1">
                <a:latin typeface="Times New Roman" panose="02020603050405020304" pitchFamily="18" charset="0"/>
                <a:cs typeface="Times New Roman" panose="02020603050405020304" pitchFamily="18" charset="0"/>
              </a:rPr>
              <a:t>Rotorspeed</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Bladeangle</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Gearboxtemperature</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Generatortemperature</a:t>
            </a:r>
            <a:r>
              <a:rPr lang="en-US" sz="2200" dirty="0">
                <a:latin typeface="Times New Roman" panose="02020603050405020304" pitchFamily="18" charset="0"/>
                <a:cs typeface="Times New Roman" panose="02020603050405020304" pitchFamily="18" charset="0"/>
              </a:rPr>
              <a:t>, And Vibration, We Aim To: </a:t>
            </a:r>
          </a:p>
          <a:p>
            <a:pPr marL="342900" indent="-342900" algn="l">
              <a:buFont typeface="Wingdings" panose="05000000000000000000" pitchFamily="2" charset="2"/>
              <a:buChar char="§"/>
            </a:pPr>
            <a:r>
              <a:rPr lang="en-US" sz="2200" dirty="0">
                <a:latin typeface="Times New Roman" panose="02020603050405020304" pitchFamily="18" charset="0"/>
                <a:cs typeface="Times New Roman" panose="02020603050405020304" pitchFamily="18" charset="0"/>
              </a:rPr>
              <a:t> Identify Patterns Or Conditions That Lead To Failures. </a:t>
            </a:r>
          </a:p>
          <a:p>
            <a:pPr marL="342900" indent="-342900" algn="l">
              <a:buFont typeface="Wingdings" panose="05000000000000000000" pitchFamily="2" charset="2"/>
              <a:buChar char="§"/>
            </a:pPr>
            <a:r>
              <a:rPr lang="en-US" sz="2200" dirty="0">
                <a:latin typeface="Times New Roman" panose="02020603050405020304" pitchFamily="18" charset="0"/>
                <a:cs typeface="Times New Roman" panose="02020603050405020304" pitchFamily="18" charset="0"/>
              </a:rPr>
              <a:t> Predict Specific Types Of Failures (E.G., Gearbox, Generator, Blade) Before They Occur.</a:t>
            </a:r>
          </a:p>
          <a:p>
            <a:pPr marL="342900" indent="-342900" algn="l">
              <a:buFont typeface="Wingdings" panose="05000000000000000000" pitchFamily="2" charset="2"/>
              <a:buChar char="§"/>
            </a:pPr>
            <a:r>
              <a:rPr lang="en-US" sz="2200" dirty="0">
                <a:latin typeface="Times New Roman" panose="02020603050405020304" pitchFamily="18" charset="0"/>
                <a:cs typeface="Times New Roman" panose="02020603050405020304" pitchFamily="18" charset="0"/>
              </a:rPr>
              <a:t> Improve Turbine Uptime And Optimize maintenance schedules, reducing downtime and operational costs.</a:t>
            </a:r>
            <a:endParaRPr lang="en-IN"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740058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885A29-02F8-F3D8-F24A-A7EAE0DEE570}"/>
              </a:ext>
            </a:extLst>
          </p:cNvPr>
          <p:cNvSpPr>
            <a:spLocks noGrp="1"/>
          </p:cNvSpPr>
          <p:nvPr>
            <p:ph type="ctrTitle"/>
          </p:nvPr>
        </p:nvSpPr>
        <p:spPr>
          <a:xfrm>
            <a:off x="710849" y="584617"/>
            <a:ext cx="9001462" cy="734518"/>
          </a:xfrm>
        </p:spPr>
        <p:txBody>
          <a:bodyPr>
            <a:normAutofit/>
          </a:bodyPr>
          <a:lstStyle/>
          <a:p>
            <a:pPr marL="457200" indent="-457200" algn="l">
              <a:buFont typeface="Wingdings" panose="05000000000000000000" pitchFamily="2" charset="2"/>
              <a:buChar char="Ø"/>
            </a:pPr>
            <a:r>
              <a:rPr lang="en-IN" sz="3000" dirty="0">
                <a:latin typeface="Times New Roman" panose="02020603050405020304" pitchFamily="18" charset="0"/>
                <a:cs typeface="Times New Roman" panose="02020603050405020304" pitchFamily="18" charset="0"/>
              </a:rPr>
              <a:t>Approach Overview</a:t>
            </a:r>
          </a:p>
        </p:txBody>
      </p:sp>
      <p:sp>
        <p:nvSpPr>
          <p:cNvPr id="3" name="Subtitle 2">
            <a:extLst>
              <a:ext uri="{FF2B5EF4-FFF2-40B4-BE49-F238E27FC236}">
                <a16:creationId xmlns:a16="http://schemas.microsoft.com/office/drawing/2014/main" id="{7EF56A02-20F2-7BDC-7A2D-9373DAC52C98}"/>
              </a:ext>
            </a:extLst>
          </p:cNvPr>
          <p:cNvSpPr>
            <a:spLocks noGrp="1"/>
          </p:cNvSpPr>
          <p:nvPr>
            <p:ph type="subTitle" idx="1"/>
          </p:nvPr>
        </p:nvSpPr>
        <p:spPr>
          <a:xfrm>
            <a:off x="1259174" y="1543988"/>
            <a:ext cx="9337557" cy="4302176"/>
          </a:xfrm>
        </p:spPr>
        <p:txBody>
          <a:bodyPr>
            <a:normAutofit lnSpcReduction="10000"/>
          </a:bodyPr>
          <a:lstStyle/>
          <a:p>
            <a:pPr marL="342900" indent="-342900" algn="l">
              <a:buFont typeface="Wingdings" panose="05000000000000000000" pitchFamily="2" charset="2"/>
              <a:buChar char="§"/>
            </a:pPr>
            <a:r>
              <a:rPr lang="en-IN" dirty="0">
                <a:latin typeface="Times New Roman" panose="02020603050405020304" pitchFamily="18" charset="0"/>
                <a:cs typeface="Times New Roman" panose="02020603050405020304" pitchFamily="18" charset="0"/>
              </a:rPr>
              <a:t>Data Exploration &amp; Preprocessing</a:t>
            </a:r>
          </a:p>
          <a:p>
            <a:pPr marL="342900" indent="-342900" algn="l">
              <a:buFont typeface="Wingdings" panose="05000000000000000000" pitchFamily="2" charset="2"/>
              <a:buChar char="§"/>
            </a:pPr>
            <a:r>
              <a:rPr lang="en-IN" dirty="0">
                <a:latin typeface="Times New Roman" panose="02020603050405020304" pitchFamily="18" charset="0"/>
                <a:cs typeface="Times New Roman" panose="02020603050405020304" pitchFamily="18" charset="0"/>
              </a:rPr>
              <a:t>Exploratory Data Analysis (EDA)</a:t>
            </a:r>
          </a:p>
          <a:p>
            <a:pPr marL="342900" indent="-342900" algn="l">
              <a:buFont typeface="Wingdings" panose="05000000000000000000" pitchFamily="2" charset="2"/>
              <a:buChar char="§"/>
            </a:pPr>
            <a:r>
              <a:rPr lang="en-IN" dirty="0">
                <a:latin typeface="Times New Roman" panose="02020603050405020304" pitchFamily="18" charset="0"/>
                <a:cs typeface="Times New Roman" panose="02020603050405020304" pitchFamily="18" charset="0"/>
              </a:rPr>
              <a:t>Model Selection &amp; Training</a:t>
            </a:r>
          </a:p>
          <a:p>
            <a:pPr marL="342900" indent="-342900" algn="l">
              <a:buFont typeface="Wingdings" panose="05000000000000000000" pitchFamily="2" charset="2"/>
              <a:buChar char="§"/>
            </a:pPr>
            <a:r>
              <a:rPr lang="en-IN" dirty="0">
                <a:latin typeface="Times New Roman" panose="02020603050405020304" pitchFamily="18" charset="0"/>
                <a:cs typeface="Times New Roman" panose="02020603050405020304" pitchFamily="18" charset="0"/>
              </a:rPr>
              <a:t>Failure Type Prediction</a:t>
            </a:r>
          </a:p>
          <a:p>
            <a:pPr marL="342900" indent="-342900" algn="l">
              <a:buFont typeface="Wingdings" panose="05000000000000000000" pitchFamily="2" charset="2"/>
              <a:buChar char="§"/>
            </a:pPr>
            <a:r>
              <a:rPr lang="en-IN" dirty="0">
                <a:latin typeface="Times New Roman" panose="02020603050405020304" pitchFamily="18" charset="0"/>
                <a:cs typeface="Times New Roman" panose="02020603050405020304" pitchFamily="18" charset="0"/>
              </a:rPr>
              <a:t>Hyperparameter Tuning</a:t>
            </a:r>
          </a:p>
          <a:p>
            <a:pPr marL="342900" indent="-342900" algn="l">
              <a:buFont typeface="Wingdings" panose="05000000000000000000" pitchFamily="2" charset="2"/>
              <a:buChar char="§"/>
            </a:pPr>
            <a:r>
              <a:rPr lang="en-IN">
                <a:latin typeface="Times New Roman" panose="02020603050405020304" pitchFamily="18" charset="0"/>
                <a:cs typeface="Times New Roman" panose="02020603050405020304" pitchFamily="18" charset="0"/>
              </a:rPr>
              <a:t>Deployment</a:t>
            </a:r>
            <a:endParaRPr lang="en-IN" dirty="0">
              <a:latin typeface="Times New Roman" panose="02020603050405020304" pitchFamily="18" charset="0"/>
              <a:cs typeface="Times New Roman" panose="02020603050405020304" pitchFamily="18" charset="0"/>
            </a:endParaRPr>
          </a:p>
          <a:p>
            <a:pPr marL="342900" indent="-342900" algn="l">
              <a:buFont typeface="Wingdings" panose="05000000000000000000" pitchFamily="2" charset="2"/>
              <a:buChar char="§"/>
            </a:pPr>
            <a:r>
              <a:rPr lang="en-IN" dirty="0">
                <a:latin typeface="Times New Roman" panose="02020603050405020304" pitchFamily="18" charset="0"/>
                <a:cs typeface="Times New Roman" panose="02020603050405020304" pitchFamily="18" charset="0"/>
              </a:rPr>
              <a:t>Reporting &amp; Visualization</a:t>
            </a:r>
          </a:p>
          <a:p>
            <a:pPr marL="342900" indent="-342900" algn="l">
              <a:buFont typeface="Wingdings" panose="05000000000000000000" pitchFamily="2" charset="2"/>
              <a:buChar char="§"/>
            </a:pPr>
            <a:r>
              <a:rPr lang="en-IN" dirty="0">
                <a:latin typeface="Times New Roman" panose="02020603050405020304" pitchFamily="18" charset="0"/>
                <a:cs typeface="Times New Roman" panose="02020603050405020304" pitchFamily="18" charset="0"/>
              </a:rPr>
              <a:t>Tools used:- Python </a:t>
            </a:r>
          </a:p>
        </p:txBody>
      </p:sp>
      <p:sp>
        <p:nvSpPr>
          <p:cNvPr id="4" name="AutoShape 2" descr="Generated image: Data science pipeline steps infographic">
            <a:extLst>
              <a:ext uri="{FF2B5EF4-FFF2-40B4-BE49-F238E27FC236}">
                <a16:creationId xmlns:a16="http://schemas.microsoft.com/office/drawing/2014/main" id="{985AA49E-B4B3-FAE4-EF3F-85DF6966F07A}"/>
              </a:ext>
            </a:extLst>
          </p:cNvPr>
          <p:cNvSpPr>
            <a:spLocks noChangeAspect="1" noChangeArrowheads="1"/>
          </p:cNvSpPr>
          <p:nvPr/>
        </p:nvSpPr>
        <p:spPr bwMode="auto">
          <a:xfrm>
            <a:off x="5943600" y="965616"/>
            <a:ext cx="2615784" cy="2615784"/>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7" name="Picture 6">
            <a:extLst>
              <a:ext uri="{FF2B5EF4-FFF2-40B4-BE49-F238E27FC236}">
                <a16:creationId xmlns:a16="http://schemas.microsoft.com/office/drawing/2014/main" id="{D6F90039-BD08-59F9-2BBA-A494344CD072}"/>
              </a:ext>
            </a:extLst>
          </p:cNvPr>
          <p:cNvPicPr>
            <a:picLocks noChangeAspect="1"/>
          </p:cNvPicPr>
          <p:nvPr/>
        </p:nvPicPr>
        <p:blipFill>
          <a:blip r:embed="rId2"/>
          <a:stretch>
            <a:fillRect/>
          </a:stretch>
        </p:blipFill>
        <p:spPr>
          <a:xfrm>
            <a:off x="6596197" y="1011836"/>
            <a:ext cx="4884954" cy="5261547"/>
          </a:xfrm>
          <a:prstGeom prst="rect">
            <a:avLst/>
          </a:prstGeom>
        </p:spPr>
      </p:pic>
    </p:spTree>
    <p:extLst>
      <p:ext uri="{BB962C8B-B14F-4D97-AF65-F5344CB8AC3E}">
        <p14:creationId xmlns:p14="http://schemas.microsoft.com/office/powerpoint/2010/main" val="16910074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DEE30A-1CBE-D71E-35D2-61A20868E7F2}"/>
              </a:ext>
            </a:extLst>
          </p:cNvPr>
          <p:cNvSpPr>
            <a:spLocks noGrp="1"/>
          </p:cNvSpPr>
          <p:nvPr>
            <p:ph type="title"/>
          </p:nvPr>
        </p:nvSpPr>
        <p:spPr>
          <a:xfrm>
            <a:off x="793873" y="374754"/>
            <a:ext cx="10353761" cy="4317167"/>
          </a:xfrm>
        </p:spPr>
        <p:txBody>
          <a:bodyPr>
            <a:normAutofit/>
          </a:bodyPr>
          <a:lstStyle/>
          <a:p>
            <a:pPr marL="457200" indent="-457200" algn="l">
              <a:buFont typeface="Wingdings" panose="05000000000000000000" pitchFamily="2" charset="2"/>
              <a:buChar char="Ø"/>
            </a:pPr>
            <a:r>
              <a:rPr lang="en-IN" sz="3500" dirty="0">
                <a:latin typeface="Times New Roman" panose="02020603050405020304" pitchFamily="18" charset="0"/>
                <a:cs typeface="Times New Roman" panose="02020603050405020304" pitchFamily="18" charset="0"/>
              </a:rPr>
              <a:t>Data Exploration &amp; Preprocessing</a:t>
            </a:r>
            <a:br>
              <a:rPr lang="en-IN" sz="3500" dirty="0">
                <a:latin typeface="Times New Roman" panose="02020603050405020304" pitchFamily="18" charset="0"/>
                <a:cs typeface="Times New Roman" panose="02020603050405020304" pitchFamily="18" charset="0"/>
              </a:rPr>
            </a:br>
            <a:br>
              <a:rPr lang="en-IN" sz="2500" dirty="0">
                <a:latin typeface="Times New Roman" panose="02020603050405020304" pitchFamily="18" charset="0"/>
                <a:cs typeface="Times New Roman" panose="02020603050405020304" pitchFamily="18" charset="0"/>
              </a:rPr>
            </a:br>
            <a:r>
              <a:rPr lang="en-US" sz="2500" b="0" cap="none" dirty="0">
                <a:latin typeface="Times New Roman" panose="02020603050405020304" pitchFamily="18" charset="0"/>
                <a:cs typeface="Times New Roman" panose="02020603050405020304" pitchFamily="18" charset="0"/>
              </a:rPr>
              <a:t>Load Dataset (9,000 Rows, Multiple Sensors + Failure Labels)</a:t>
            </a:r>
            <a:br>
              <a:rPr lang="en-US" sz="2500" b="0" cap="none" dirty="0">
                <a:latin typeface="Times New Roman" panose="02020603050405020304" pitchFamily="18" charset="0"/>
                <a:cs typeface="Times New Roman" panose="02020603050405020304" pitchFamily="18" charset="0"/>
              </a:rPr>
            </a:br>
            <a:r>
              <a:rPr lang="en-US" sz="2500" b="0" cap="none" dirty="0">
                <a:latin typeface="Times New Roman" panose="02020603050405020304" pitchFamily="18" charset="0"/>
                <a:cs typeface="Times New Roman" panose="02020603050405020304" pitchFamily="18" charset="0"/>
              </a:rPr>
              <a:t>Clean Data (Missing Values, Duplicates, Consistency)</a:t>
            </a:r>
            <a:br>
              <a:rPr lang="en-US" sz="2500" b="0" cap="none" dirty="0">
                <a:latin typeface="Times New Roman" panose="02020603050405020304" pitchFamily="18" charset="0"/>
                <a:cs typeface="Times New Roman" panose="02020603050405020304" pitchFamily="18" charset="0"/>
              </a:rPr>
            </a:br>
            <a:br>
              <a:rPr lang="en-US" sz="2500" b="0" cap="none" dirty="0">
                <a:latin typeface="Times New Roman" panose="02020603050405020304" pitchFamily="18" charset="0"/>
                <a:cs typeface="Times New Roman" panose="02020603050405020304" pitchFamily="18" charset="0"/>
              </a:rPr>
            </a:br>
            <a:r>
              <a:rPr lang="en-US" sz="2500" b="0" cap="none" dirty="0">
                <a:latin typeface="Times New Roman" panose="02020603050405020304" pitchFamily="18" charset="0"/>
                <a:cs typeface="Times New Roman" panose="02020603050405020304" pitchFamily="18" charset="0"/>
              </a:rPr>
              <a:t>Encode Categorical Variables (E.G., </a:t>
            </a:r>
            <a:r>
              <a:rPr lang="en-US" sz="2500" b="0" cap="none" dirty="0" err="1">
                <a:latin typeface="Times New Roman" panose="02020603050405020304" pitchFamily="18" charset="0"/>
                <a:cs typeface="Times New Roman" panose="02020603050405020304" pitchFamily="18" charset="0"/>
              </a:rPr>
              <a:t>Faulttype</a:t>
            </a:r>
            <a:r>
              <a:rPr lang="en-US" sz="2500" b="0" cap="none" dirty="0">
                <a:latin typeface="Times New Roman" panose="02020603050405020304" pitchFamily="18" charset="0"/>
                <a:cs typeface="Times New Roman" panose="02020603050405020304" pitchFamily="18" charset="0"/>
              </a:rPr>
              <a:t>)</a:t>
            </a:r>
            <a:br>
              <a:rPr lang="en-US" sz="2000" b="0" dirty="0">
                <a:latin typeface="Times New Roman" panose="02020603050405020304" pitchFamily="18" charset="0"/>
                <a:cs typeface="Times New Roman" panose="02020603050405020304" pitchFamily="18" charset="0"/>
              </a:rPr>
            </a:br>
            <a:endParaRPr lang="en-IN" sz="2000" b="0" dirty="0">
              <a:latin typeface="Times New Roman" panose="02020603050405020304" pitchFamily="18" charset="0"/>
              <a:cs typeface="Times New Roman" panose="02020603050405020304" pitchFamily="18" charset="0"/>
            </a:endParaRPr>
          </a:p>
        </p:txBody>
      </p:sp>
      <p:pic>
        <p:nvPicPr>
          <p:cNvPr id="2050" name="Picture 2">
            <a:extLst>
              <a:ext uri="{FF2B5EF4-FFF2-40B4-BE49-F238E27FC236}">
                <a16:creationId xmlns:a16="http://schemas.microsoft.com/office/drawing/2014/main" id="{F285B4BC-F0CC-5F23-8588-0787BFD9A28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55903" y="4048204"/>
            <a:ext cx="9052202" cy="22326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234782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A2839E-2551-C5FD-619F-C998A76FFB76}"/>
              </a:ext>
            </a:extLst>
          </p:cNvPr>
          <p:cNvSpPr>
            <a:spLocks noGrp="1"/>
          </p:cNvSpPr>
          <p:nvPr>
            <p:ph type="title"/>
          </p:nvPr>
        </p:nvSpPr>
        <p:spPr>
          <a:xfrm>
            <a:off x="783879" y="816287"/>
            <a:ext cx="10353762" cy="1592186"/>
          </a:xfrm>
        </p:spPr>
        <p:txBody>
          <a:bodyPr/>
          <a:lstStyle/>
          <a:p>
            <a:pPr marL="457200" indent="-457200" algn="l">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Exploratory Data Analysis (EDA)</a:t>
            </a:r>
          </a:p>
        </p:txBody>
      </p:sp>
      <p:sp>
        <p:nvSpPr>
          <p:cNvPr id="3" name="Text Placeholder 2">
            <a:extLst>
              <a:ext uri="{FF2B5EF4-FFF2-40B4-BE49-F238E27FC236}">
                <a16:creationId xmlns:a16="http://schemas.microsoft.com/office/drawing/2014/main" id="{997C6B6D-5F62-CB66-36B5-684B50B9C49E}"/>
              </a:ext>
            </a:extLst>
          </p:cNvPr>
          <p:cNvSpPr>
            <a:spLocks noGrp="1"/>
          </p:cNvSpPr>
          <p:nvPr>
            <p:ph type="body" sz="half" idx="2"/>
          </p:nvPr>
        </p:nvSpPr>
        <p:spPr>
          <a:xfrm>
            <a:off x="1054359" y="2111920"/>
            <a:ext cx="10353761" cy="3685086"/>
          </a:xfrm>
        </p:spPr>
        <p:txBody>
          <a:bodyPr/>
          <a:lstStyle/>
          <a:p>
            <a:pPr marL="342900" indent="-342900" algn="l">
              <a:buFont typeface="Wingdings" panose="05000000000000000000" pitchFamily="2" charset="2"/>
              <a:buChar char="§"/>
            </a:pPr>
            <a:r>
              <a:rPr lang="en-IN" sz="2500" dirty="0">
                <a:latin typeface="Times New Roman" panose="02020603050405020304" pitchFamily="18" charset="0"/>
                <a:cs typeface="Times New Roman" panose="02020603050405020304" pitchFamily="18" charset="0"/>
              </a:rPr>
              <a:t> Descriptive statistics   </a:t>
            </a:r>
          </a:p>
          <a:p>
            <a:pPr marL="342900" indent="-342900" algn="l">
              <a:buFont typeface="Wingdings" panose="05000000000000000000" pitchFamily="2" charset="2"/>
              <a:buChar char="§"/>
            </a:pPr>
            <a:r>
              <a:rPr lang="en-IN" sz="2500" dirty="0">
                <a:latin typeface="Times New Roman" panose="02020603050405020304" pitchFamily="18" charset="0"/>
                <a:cs typeface="Times New Roman" panose="02020603050405020304" pitchFamily="18" charset="0"/>
              </a:rPr>
              <a:t> Correlation analysis (e.g., vibration -- failure)</a:t>
            </a:r>
          </a:p>
          <a:p>
            <a:pPr marL="342900" indent="-342900" algn="l">
              <a:buFont typeface="Wingdings" panose="05000000000000000000" pitchFamily="2" charset="2"/>
              <a:buChar char="§"/>
            </a:pPr>
            <a:r>
              <a:rPr lang="en-IN" sz="2500" dirty="0">
                <a:latin typeface="Times New Roman" panose="02020603050405020304" pitchFamily="18" charset="0"/>
                <a:cs typeface="Times New Roman" panose="02020603050405020304" pitchFamily="18" charset="0"/>
              </a:rPr>
              <a:t>  Visualizations: histograms, scatter plots, box plots</a:t>
            </a:r>
          </a:p>
          <a:p>
            <a:pPr marL="342900" indent="-342900" algn="l">
              <a:buFont typeface="Wingdings" panose="05000000000000000000" pitchFamily="2" charset="2"/>
              <a:buChar char="§"/>
            </a:pPr>
            <a:r>
              <a:rPr lang="en-IN" sz="2500" dirty="0">
                <a:latin typeface="Times New Roman" panose="02020603050405020304" pitchFamily="18" charset="0"/>
                <a:cs typeface="Times New Roman" panose="02020603050405020304" pitchFamily="18" charset="0"/>
              </a:rPr>
              <a:t>  Observations: Failures linked to temperature, vibration, maintenance gap</a:t>
            </a:r>
          </a:p>
          <a:p>
            <a:endParaRPr lang="en-IN" dirty="0"/>
          </a:p>
        </p:txBody>
      </p:sp>
      <p:pic>
        <p:nvPicPr>
          <p:cNvPr id="1026" name="Picture 2">
            <a:extLst>
              <a:ext uri="{FF2B5EF4-FFF2-40B4-BE49-F238E27FC236}">
                <a16:creationId xmlns:a16="http://schemas.microsoft.com/office/drawing/2014/main" id="{757AAD5A-B39D-ECF8-3D6F-2E65A374D12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82891" y="1957154"/>
            <a:ext cx="3595709" cy="233003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057558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9C1240-1BBD-4AD8-1F49-D13E4156FA5D}"/>
              </a:ext>
            </a:extLst>
          </p:cNvPr>
          <p:cNvSpPr>
            <a:spLocks noGrp="1"/>
          </p:cNvSpPr>
          <p:nvPr>
            <p:ph type="title"/>
          </p:nvPr>
        </p:nvSpPr>
        <p:spPr>
          <a:xfrm>
            <a:off x="703933" y="1060993"/>
            <a:ext cx="10353762" cy="961475"/>
          </a:xfrm>
        </p:spPr>
        <p:txBody>
          <a:bodyPr/>
          <a:lstStyle/>
          <a:p>
            <a:pPr marL="457200" indent="-457200" algn="l">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Model Selection &amp; Training</a:t>
            </a:r>
          </a:p>
        </p:txBody>
      </p:sp>
      <p:sp>
        <p:nvSpPr>
          <p:cNvPr id="3" name="Text Placeholder 2">
            <a:extLst>
              <a:ext uri="{FF2B5EF4-FFF2-40B4-BE49-F238E27FC236}">
                <a16:creationId xmlns:a16="http://schemas.microsoft.com/office/drawing/2014/main" id="{6D90428C-8454-4C52-958B-D95C637BF6FD}"/>
              </a:ext>
            </a:extLst>
          </p:cNvPr>
          <p:cNvSpPr>
            <a:spLocks noGrp="1"/>
          </p:cNvSpPr>
          <p:nvPr>
            <p:ph type="body" sz="half" idx="2"/>
          </p:nvPr>
        </p:nvSpPr>
        <p:spPr>
          <a:xfrm>
            <a:off x="913795" y="1541732"/>
            <a:ext cx="10353761" cy="3479974"/>
          </a:xfrm>
        </p:spPr>
        <p:txBody>
          <a:bodyPr/>
          <a:lstStyle/>
          <a:p>
            <a:pPr marL="342900" indent="-342900" algn="l">
              <a:buFont typeface="Wingdings" panose="05000000000000000000" pitchFamily="2" charset="2"/>
              <a:buChar char="§"/>
            </a:pPr>
            <a:r>
              <a:rPr lang="en-IN" sz="2500" dirty="0">
                <a:latin typeface="Times New Roman" panose="02020603050405020304" pitchFamily="18" charset="0"/>
                <a:cs typeface="Times New Roman" panose="02020603050405020304" pitchFamily="18" charset="0"/>
              </a:rPr>
              <a:t>Train/Test split (80/20)</a:t>
            </a:r>
          </a:p>
          <a:p>
            <a:pPr marL="342900" indent="-342900" algn="l">
              <a:buFont typeface="Wingdings" panose="05000000000000000000" pitchFamily="2" charset="2"/>
              <a:buChar char="§"/>
            </a:pPr>
            <a:r>
              <a:rPr lang="en-IN" sz="2500" dirty="0">
                <a:latin typeface="Times New Roman" panose="02020603050405020304" pitchFamily="18" charset="0"/>
                <a:cs typeface="Times New Roman" panose="02020603050405020304" pitchFamily="18" charset="0"/>
              </a:rPr>
              <a:t>Models tested: Decision Tree, Random Forest, </a:t>
            </a:r>
            <a:r>
              <a:rPr lang="en-IN" sz="2500" dirty="0" err="1">
                <a:latin typeface="Times New Roman" panose="02020603050405020304" pitchFamily="18" charset="0"/>
                <a:cs typeface="Times New Roman" panose="02020603050405020304" pitchFamily="18" charset="0"/>
              </a:rPr>
              <a:t>XGBoost</a:t>
            </a:r>
            <a:endParaRPr lang="en-IN" sz="2500" dirty="0">
              <a:latin typeface="Times New Roman" panose="02020603050405020304" pitchFamily="18" charset="0"/>
              <a:cs typeface="Times New Roman" panose="02020603050405020304" pitchFamily="18" charset="0"/>
            </a:endParaRPr>
          </a:p>
          <a:p>
            <a:pPr marL="342900" indent="-342900" algn="l">
              <a:buFont typeface="Wingdings" panose="05000000000000000000" pitchFamily="2" charset="2"/>
              <a:buChar char="§"/>
            </a:pPr>
            <a:r>
              <a:rPr lang="en-IN" sz="2500" dirty="0">
                <a:latin typeface="Times New Roman" panose="02020603050405020304" pitchFamily="18" charset="0"/>
                <a:cs typeface="Times New Roman" panose="02020603050405020304" pitchFamily="18" charset="0"/>
              </a:rPr>
              <a:t>Metrics: Accuracy, Precision, Recall, F1, AUC-ROC</a:t>
            </a:r>
          </a:p>
          <a:p>
            <a:pPr marL="342900" indent="-342900" algn="l">
              <a:buFont typeface="Wingdings" panose="05000000000000000000" pitchFamily="2" charset="2"/>
              <a:buChar char="§"/>
            </a:pPr>
            <a:r>
              <a:rPr lang="en-IN" sz="2500" dirty="0">
                <a:latin typeface="Times New Roman" panose="02020603050405020304" pitchFamily="18" charset="0"/>
                <a:cs typeface="Times New Roman" panose="02020603050405020304" pitchFamily="18" charset="0"/>
              </a:rPr>
              <a:t>Cross-validation for generalization</a:t>
            </a:r>
          </a:p>
          <a:p>
            <a:endParaRPr lang="en-IN" dirty="0"/>
          </a:p>
        </p:txBody>
      </p:sp>
      <p:pic>
        <p:nvPicPr>
          <p:cNvPr id="4098" name="Picture 2">
            <a:extLst>
              <a:ext uri="{FF2B5EF4-FFF2-40B4-BE49-F238E27FC236}">
                <a16:creationId xmlns:a16="http://schemas.microsoft.com/office/drawing/2014/main" id="{1B63E87A-51E3-9CE0-AD59-521CCBBF952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80814" y="3672590"/>
            <a:ext cx="6076950" cy="286312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64818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FDF2CA-008B-3AC2-41DB-E2D3579E1A43}"/>
              </a:ext>
            </a:extLst>
          </p:cNvPr>
          <p:cNvSpPr>
            <a:spLocks noGrp="1"/>
          </p:cNvSpPr>
          <p:nvPr>
            <p:ph type="title"/>
          </p:nvPr>
        </p:nvSpPr>
        <p:spPr>
          <a:xfrm>
            <a:off x="913795" y="609600"/>
            <a:ext cx="10353762" cy="1848787"/>
          </a:xfrm>
        </p:spPr>
        <p:txBody>
          <a:bodyPr/>
          <a:lstStyle/>
          <a:p>
            <a:pPr marL="457200" indent="-457200" algn="l">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Failure Type Prediction</a:t>
            </a:r>
          </a:p>
        </p:txBody>
      </p:sp>
      <p:sp>
        <p:nvSpPr>
          <p:cNvPr id="3" name="Text Placeholder 2">
            <a:extLst>
              <a:ext uri="{FF2B5EF4-FFF2-40B4-BE49-F238E27FC236}">
                <a16:creationId xmlns:a16="http://schemas.microsoft.com/office/drawing/2014/main" id="{71BD0FB5-FEDF-AB4E-B8D2-671DC1145D99}"/>
              </a:ext>
            </a:extLst>
          </p:cNvPr>
          <p:cNvSpPr>
            <a:spLocks noGrp="1"/>
          </p:cNvSpPr>
          <p:nvPr>
            <p:ph type="body" sz="half" idx="2"/>
          </p:nvPr>
        </p:nvSpPr>
        <p:spPr>
          <a:xfrm>
            <a:off x="1259174" y="2443397"/>
            <a:ext cx="10008382" cy="3338619"/>
          </a:xfrm>
        </p:spPr>
        <p:txBody>
          <a:bodyPr/>
          <a:lstStyle/>
          <a:p>
            <a:pPr marL="342900" indent="-342900" algn="l">
              <a:buFont typeface="Wingdings" panose="05000000000000000000" pitchFamily="2" charset="2"/>
              <a:buChar char="§"/>
            </a:pPr>
            <a:r>
              <a:rPr lang="en-IN" sz="2500" dirty="0">
                <a:latin typeface="Times New Roman" panose="02020603050405020304" pitchFamily="18" charset="0"/>
                <a:cs typeface="Times New Roman" panose="02020603050405020304" pitchFamily="18" charset="0"/>
              </a:rPr>
              <a:t>Multiclass classification: </a:t>
            </a:r>
            <a:r>
              <a:rPr lang="en-IN" sz="2500" dirty="0" err="1">
                <a:latin typeface="Times New Roman" panose="02020603050405020304" pitchFamily="18" charset="0"/>
                <a:cs typeface="Times New Roman" panose="02020603050405020304" pitchFamily="18" charset="0"/>
              </a:rPr>
              <a:t>FaultType</a:t>
            </a:r>
            <a:r>
              <a:rPr lang="en-IN" sz="2500" dirty="0">
                <a:latin typeface="Times New Roman" panose="02020603050405020304" pitchFamily="18" charset="0"/>
                <a:cs typeface="Times New Roman" panose="02020603050405020304" pitchFamily="18" charset="0"/>
              </a:rPr>
              <a:t> (Gearbox, Generator, Blades)</a:t>
            </a:r>
          </a:p>
          <a:p>
            <a:pPr marL="342900" indent="-342900" algn="l">
              <a:buFont typeface="Wingdings" panose="05000000000000000000" pitchFamily="2" charset="2"/>
              <a:buChar char="§"/>
            </a:pPr>
            <a:r>
              <a:rPr lang="en-IN" sz="2500" dirty="0">
                <a:latin typeface="Times New Roman" panose="02020603050405020304" pitchFamily="18" charset="0"/>
                <a:cs typeface="Times New Roman" panose="02020603050405020304" pitchFamily="18" charset="0"/>
              </a:rPr>
              <a:t>Models: Random Forest, </a:t>
            </a:r>
            <a:r>
              <a:rPr lang="en-IN" sz="2500" dirty="0" err="1">
                <a:latin typeface="Times New Roman" panose="02020603050405020304" pitchFamily="18" charset="0"/>
                <a:cs typeface="Times New Roman" panose="02020603050405020304" pitchFamily="18" charset="0"/>
              </a:rPr>
              <a:t>XGBoost</a:t>
            </a:r>
            <a:endParaRPr lang="en-IN" sz="2500" dirty="0">
              <a:latin typeface="Times New Roman" panose="02020603050405020304" pitchFamily="18" charset="0"/>
              <a:cs typeface="Times New Roman" panose="02020603050405020304" pitchFamily="18" charset="0"/>
            </a:endParaRPr>
          </a:p>
          <a:p>
            <a:pPr marL="342900" indent="-342900" algn="l">
              <a:buFont typeface="Wingdings" panose="05000000000000000000" pitchFamily="2" charset="2"/>
              <a:buChar char="§"/>
            </a:pPr>
            <a:r>
              <a:rPr lang="en-IN" sz="2500" dirty="0">
                <a:latin typeface="Times New Roman" panose="02020603050405020304" pitchFamily="18" charset="0"/>
                <a:cs typeface="Times New Roman" panose="02020603050405020304" pitchFamily="18" charset="0"/>
              </a:rPr>
              <a:t>Evaluated using confusion matrix</a:t>
            </a:r>
          </a:p>
          <a:p>
            <a:pPr marL="342900" indent="-342900" algn="l">
              <a:buFont typeface="Wingdings" panose="05000000000000000000" pitchFamily="2" charset="2"/>
              <a:buChar char="§"/>
            </a:pPr>
            <a:r>
              <a:rPr lang="en-IN" sz="2500" dirty="0">
                <a:latin typeface="Times New Roman" panose="02020603050405020304" pitchFamily="18" charset="0"/>
                <a:cs typeface="Times New Roman" panose="02020603050405020304" pitchFamily="18" charset="0"/>
              </a:rPr>
              <a:t>Insight :  Failures due to multi-factor stress</a:t>
            </a:r>
          </a:p>
          <a:p>
            <a:endParaRPr lang="en-IN" dirty="0"/>
          </a:p>
        </p:txBody>
      </p:sp>
    </p:spTree>
    <p:extLst>
      <p:ext uri="{BB962C8B-B14F-4D97-AF65-F5344CB8AC3E}">
        <p14:creationId xmlns:p14="http://schemas.microsoft.com/office/powerpoint/2010/main" val="4780477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DE69A9-D034-B9D8-D29E-15E77D246382}"/>
              </a:ext>
            </a:extLst>
          </p:cNvPr>
          <p:cNvSpPr>
            <a:spLocks noGrp="1"/>
          </p:cNvSpPr>
          <p:nvPr>
            <p:ph type="title"/>
          </p:nvPr>
        </p:nvSpPr>
        <p:spPr/>
        <p:txBody>
          <a:bodyPr/>
          <a:lstStyle/>
          <a:p>
            <a:endParaRPr lang="en-IN" dirty="0"/>
          </a:p>
        </p:txBody>
      </p:sp>
      <p:sp>
        <p:nvSpPr>
          <p:cNvPr id="3" name="Text Placeholder 2">
            <a:extLst>
              <a:ext uri="{FF2B5EF4-FFF2-40B4-BE49-F238E27FC236}">
                <a16:creationId xmlns:a16="http://schemas.microsoft.com/office/drawing/2014/main" id="{1AAD1795-06EB-48E1-AC4D-12CD563F92D5}"/>
              </a:ext>
            </a:extLst>
          </p:cNvPr>
          <p:cNvSpPr>
            <a:spLocks noGrp="1"/>
          </p:cNvSpPr>
          <p:nvPr>
            <p:ph type="body" sz="half" idx="2"/>
          </p:nvPr>
        </p:nvSpPr>
        <p:spPr/>
        <p:txBody>
          <a:bodyPr/>
          <a:lstStyle/>
          <a:p>
            <a:endParaRPr lang="en-IN"/>
          </a:p>
        </p:txBody>
      </p:sp>
      <p:pic>
        <p:nvPicPr>
          <p:cNvPr id="3074" name="Picture 2">
            <a:extLst>
              <a:ext uri="{FF2B5EF4-FFF2-40B4-BE49-F238E27FC236}">
                <a16:creationId xmlns:a16="http://schemas.microsoft.com/office/drawing/2014/main" id="{791775F7-0949-0715-40C5-8A25474098E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4910" y="254833"/>
            <a:ext cx="11857221" cy="63708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333511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418F4E-24A5-A784-CD00-F6191815B40D}"/>
              </a:ext>
            </a:extLst>
          </p:cNvPr>
          <p:cNvSpPr>
            <a:spLocks noGrp="1"/>
          </p:cNvSpPr>
          <p:nvPr>
            <p:ph type="title"/>
          </p:nvPr>
        </p:nvSpPr>
        <p:spPr>
          <a:xfrm>
            <a:off x="733913" y="326476"/>
            <a:ext cx="10353762" cy="1469036"/>
          </a:xfrm>
        </p:spPr>
        <p:txBody>
          <a:bodyPr/>
          <a:lstStyle/>
          <a:p>
            <a:pPr marL="457200" indent="-457200" algn="l">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Hyperparameter Tuning</a:t>
            </a:r>
          </a:p>
        </p:txBody>
      </p:sp>
      <p:sp>
        <p:nvSpPr>
          <p:cNvPr id="3" name="Text Placeholder 2">
            <a:extLst>
              <a:ext uri="{FF2B5EF4-FFF2-40B4-BE49-F238E27FC236}">
                <a16:creationId xmlns:a16="http://schemas.microsoft.com/office/drawing/2014/main" id="{118F20D4-CDF8-22EB-1C26-95594A35A0CD}"/>
              </a:ext>
            </a:extLst>
          </p:cNvPr>
          <p:cNvSpPr>
            <a:spLocks noGrp="1"/>
          </p:cNvSpPr>
          <p:nvPr>
            <p:ph type="body" sz="half" idx="2"/>
          </p:nvPr>
        </p:nvSpPr>
        <p:spPr>
          <a:xfrm>
            <a:off x="913795" y="1795513"/>
            <a:ext cx="10353761" cy="4001494"/>
          </a:xfrm>
        </p:spPr>
        <p:txBody>
          <a:bodyPr/>
          <a:lstStyle/>
          <a:p>
            <a:pPr marL="285750" indent="-285750" algn="l">
              <a:buFont typeface="Wingdings" panose="05000000000000000000" pitchFamily="2" charset="2"/>
              <a:buChar char="§"/>
            </a:pPr>
            <a:r>
              <a:rPr lang="en-IN" dirty="0"/>
              <a:t>  </a:t>
            </a:r>
            <a:r>
              <a:rPr lang="en-IN" sz="2500" dirty="0" err="1">
                <a:latin typeface="Times New Roman" panose="02020603050405020304" pitchFamily="18" charset="0"/>
                <a:cs typeface="Times New Roman" panose="02020603050405020304" pitchFamily="18" charset="0"/>
              </a:rPr>
              <a:t>GridSearchCV</a:t>
            </a:r>
            <a:r>
              <a:rPr lang="en-IN" sz="2500" dirty="0">
                <a:latin typeface="Times New Roman" panose="02020603050405020304" pitchFamily="18" charset="0"/>
                <a:cs typeface="Times New Roman" panose="02020603050405020304" pitchFamily="18" charset="0"/>
              </a:rPr>
              <a:t> / </a:t>
            </a:r>
            <a:r>
              <a:rPr lang="en-IN" sz="2500" dirty="0" err="1">
                <a:latin typeface="Times New Roman" panose="02020603050405020304" pitchFamily="18" charset="0"/>
                <a:cs typeface="Times New Roman" panose="02020603050405020304" pitchFamily="18" charset="0"/>
              </a:rPr>
              <a:t>RandomizedSearchCV</a:t>
            </a:r>
            <a:endParaRPr lang="en-IN" sz="2500" dirty="0">
              <a:latin typeface="Times New Roman" panose="02020603050405020304" pitchFamily="18" charset="0"/>
              <a:cs typeface="Times New Roman" panose="02020603050405020304" pitchFamily="18" charset="0"/>
            </a:endParaRPr>
          </a:p>
          <a:p>
            <a:pPr marL="342900" indent="-342900" algn="l">
              <a:buFont typeface="Wingdings" panose="05000000000000000000" pitchFamily="2" charset="2"/>
              <a:buChar char="§"/>
            </a:pPr>
            <a:r>
              <a:rPr lang="en-IN" sz="2500" dirty="0">
                <a:latin typeface="Times New Roman" panose="02020603050405020304" pitchFamily="18" charset="0"/>
                <a:cs typeface="Times New Roman" panose="02020603050405020304" pitchFamily="18" charset="0"/>
              </a:rPr>
              <a:t> Optimized Random Forest gave best performance</a:t>
            </a:r>
          </a:p>
          <a:p>
            <a:pPr marL="342900" indent="-342900" algn="l">
              <a:buFont typeface="Wingdings" panose="05000000000000000000" pitchFamily="2" charset="2"/>
              <a:buChar char="§"/>
            </a:pPr>
            <a:r>
              <a:rPr lang="en-IN" sz="2500" dirty="0">
                <a:latin typeface="Times New Roman" panose="02020603050405020304" pitchFamily="18" charset="0"/>
                <a:cs typeface="Times New Roman" panose="02020603050405020304" pitchFamily="18" charset="0"/>
              </a:rPr>
              <a:t>  Why RF?</a:t>
            </a:r>
          </a:p>
          <a:p>
            <a:pPr algn="l"/>
            <a:r>
              <a:rPr lang="en-IN" sz="2500" dirty="0">
                <a:latin typeface="Times New Roman" panose="02020603050405020304" pitchFamily="18" charset="0"/>
                <a:cs typeface="Times New Roman" panose="02020603050405020304" pitchFamily="18" charset="0"/>
              </a:rPr>
              <a:t>      - Captures complex interactions</a:t>
            </a:r>
          </a:p>
          <a:p>
            <a:pPr algn="l"/>
            <a:r>
              <a:rPr lang="en-IN" sz="2500" dirty="0">
                <a:latin typeface="Times New Roman" panose="02020603050405020304" pitchFamily="18" charset="0"/>
                <a:cs typeface="Times New Roman" panose="02020603050405020304" pitchFamily="18" charset="0"/>
              </a:rPr>
              <a:t>      - Robust &amp; stable</a:t>
            </a:r>
          </a:p>
          <a:p>
            <a:pPr algn="l"/>
            <a:r>
              <a:rPr lang="en-IN" sz="2500" dirty="0">
                <a:latin typeface="Times New Roman" panose="02020603050405020304" pitchFamily="18" charset="0"/>
                <a:cs typeface="Times New Roman" panose="02020603050405020304" pitchFamily="18" charset="0"/>
              </a:rPr>
              <a:t>      - Provides feature importance</a:t>
            </a:r>
          </a:p>
          <a:p>
            <a:endParaRPr lang="en-IN" dirty="0"/>
          </a:p>
        </p:txBody>
      </p:sp>
      <p:pic>
        <p:nvPicPr>
          <p:cNvPr id="5122" name="Picture 2">
            <a:extLst>
              <a:ext uri="{FF2B5EF4-FFF2-40B4-BE49-F238E27FC236}">
                <a16:creationId xmlns:a16="http://schemas.microsoft.com/office/drawing/2014/main" id="{0074216D-FDA2-47C1-4CA0-4148A71B19A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31952" y="3043004"/>
            <a:ext cx="5960376" cy="32978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532515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6D2E70-4464-0836-4E83-990607812F13}"/>
              </a:ext>
            </a:extLst>
          </p:cNvPr>
          <p:cNvSpPr>
            <a:spLocks noGrp="1"/>
          </p:cNvSpPr>
          <p:nvPr>
            <p:ph type="title"/>
          </p:nvPr>
        </p:nvSpPr>
        <p:spPr>
          <a:xfrm>
            <a:off x="703933" y="523532"/>
            <a:ext cx="10353762" cy="1592186"/>
          </a:xfrm>
        </p:spPr>
        <p:txBody>
          <a:bodyPr/>
          <a:lstStyle/>
          <a:p>
            <a:pPr marL="457200" indent="-457200" algn="l">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Deployment</a:t>
            </a:r>
          </a:p>
        </p:txBody>
      </p:sp>
      <p:sp>
        <p:nvSpPr>
          <p:cNvPr id="3" name="Text Placeholder 2">
            <a:extLst>
              <a:ext uri="{FF2B5EF4-FFF2-40B4-BE49-F238E27FC236}">
                <a16:creationId xmlns:a16="http://schemas.microsoft.com/office/drawing/2014/main" id="{1A6D48EE-266F-8BE5-64FB-E9949DAE760B}"/>
              </a:ext>
            </a:extLst>
          </p:cNvPr>
          <p:cNvSpPr>
            <a:spLocks noGrp="1"/>
          </p:cNvSpPr>
          <p:nvPr>
            <p:ph type="body" sz="half" idx="2"/>
          </p:nvPr>
        </p:nvSpPr>
        <p:spPr>
          <a:xfrm>
            <a:off x="1134305" y="1523921"/>
            <a:ext cx="9923389" cy="3563472"/>
          </a:xfrm>
        </p:spPr>
        <p:txBody>
          <a:bodyPr/>
          <a:lstStyle/>
          <a:p>
            <a:pPr marL="342900" indent="-342900" algn="l">
              <a:buFont typeface="Wingdings" panose="05000000000000000000" pitchFamily="2" charset="2"/>
              <a:buChar char="§"/>
            </a:pPr>
            <a:r>
              <a:rPr lang="en-US" sz="2500" dirty="0">
                <a:latin typeface="Times New Roman" panose="02020603050405020304" pitchFamily="18" charset="0"/>
                <a:cs typeface="Times New Roman" panose="02020603050405020304" pitchFamily="18" charset="0"/>
              </a:rPr>
              <a:t> Model saved as Pickle (.</a:t>
            </a:r>
            <a:r>
              <a:rPr lang="en-US" sz="2500" dirty="0" err="1">
                <a:latin typeface="Times New Roman" panose="02020603050405020304" pitchFamily="18" charset="0"/>
                <a:cs typeface="Times New Roman" panose="02020603050405020304" pitchFamily="18" charset="0"/>
              </a:rPr>
              <a:t>pkl</a:t>
            </a:r>
            <a:r>
              <a:rPr lang="en-US" sz="2500" dirty="0">
                <a:latin typeface="Times New Roman" panose="02020603050405020304" pitchFamily="18" charset="0"/>
                <a:cs typeface="Times New Roman" panose="02020603050405020304" pitchFamily="18" charset="0"/>
              </a:rPr>
              <a:t>)</a:t>
            </a:r>
          </a:p>
          <a:p>
            <a:pPr marL="342900" indent="-342900" algn="l">
              <a:buFont typeface="Wingdings" panose="05000000000000000000" pitchFamily="2" charset="2"/>
              <a:buChar char="§"/>
            </a:pPr>
            <a:r>
              <a:rPr lang="en-US" sz="2500" dirty="0">
                <a:latin typeface="Times New Roman" panose="02020603050405020304" pitchFamily="18" charset="0"/>
                <a:cs typeface="Times New Roman" panose="02020603050405020304" pitchFamily="18" charset="0"/>
              </a:rPr>
              <a:t> Deployed with </a:t>
            </a:r>
            <a:r>
              <a:rPr lang="en-US" sz="2500" dirty="0" err="1">
                <a:latin typeface="Times New Roman" panose="02020603050405020304" pitchFamily="18" charset="0"/>
                <a:cs typeface="Times New Roman" panose="02020603050405020304" pitchFamily="18" charset="0"/>
              </a:rPr>
              <a:t>Streamlit</a:t>
            </a:r>
            <a:r>
              <a:rPr lang="en-US" sz="2500" dirty="0">
                <a:latin typeface="Times New Roman" panose="02020603050405020304" pitchFamily="18" charset="0"/>
                <a:cs typeface="Times New Roman" panose="02020603050405020304" pitchFamily="18" charset="0"/>
              </a:rPr>
              <a:t> (app.py)</a:t>
            </a:r>
          </a:p>
          <a:p>
            <a:pPr marL="342900" indent="-342900" algn="l">
              <a:buFont typeface="Wingdings" panose="05000000000000000000" pitchFamily="2" charset="2"/>
              <a:buChar char="§"/>
            </a:pPr>
            <a:r>
              <a:rPr lang="en-US" sz="2500" dirty="0">
                <a:latin typeface="Times New Roman" panose="02020603050405020304" pitchFamily="18" charset="0"/>
                <a:cs typeface="Times New Roman" panose="02020603050405020304" pitchFamily="18" charset="0"/>
              </a:rPr>
              <a:t> User inputs sensor values → Predicts Healthy / Need Maintenance</a:t>
            </a:r>
          </a:p>
          <a:p>
            <a:pPr marL="342900" indent="-342900" algn="l">
              <a:buFont typeface="Wingdings" panose="05000000000000000000" pitchFamily="2" charset="2"/>
              <a:buChar char="§"/>
            </a:pPr>
            <a:r>
              <a:rPr lang="en-US" sz="2500" dirty="0">
                <a:latin typeface="Times New Roman" panose="02020603050405020304" pitchFamily="18" charset="0"/>
                <a:cs typeface="Times New Roman" panose="02020603050405020304" pitchFamily="18" charset="0"/>
              </a:rPr>
              <a:t> Alerts triggered when risk is high</a:t>
            </a:r>
          </a:p>
          <a:p>
            <a:endParaRPr lang="en-IN" dirty="0"/>
          </a:p>
        </p:txBody>
      </p:sp>
      <p:pic>
        <p:nvPicPr>
          <p:cNvPr id="6146" name="Picture 2">
            <a:extLst>
              <a:ext uri="{FF2B5EF4-FFF2-40B4-BE49-F238E27FC236}">
                <a16:creationId xmlns:a16="http://schemas.microsoft.com/office/drawing/2014/main" id="{36901C2B-86E5-45E9-D4E6-96412B6F112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34306" y="4377780"/>
            <a:ext cx="10033366" cy="22350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804656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18E105-E930-BE59-0A15-91B4A660D075}"/>
              </a:ext>
            </a:extLst>
          </p:cNvPr>
          <p:cNvSpPr>
            <a:spLocks noGrp="1"/>
          </p:cNvSpPr>
          <p:nvPr>
            <p:ph type="title"/>
          </p:nvPr>
        </p:nvSpPr>
        <p:spPr>
          <a:xfrm>
            <a:off x="793873" y="734518"/>
            <a:ext cx="10353762" cy="1111377"/>
          </a:xfrm>
        </p:spPr>
        <p:txBody>
          <a:bodyPr/>
          <a:lstStyle/>
          <a:p>
            <a:pPr marL="457200" indent="-457200" algn="l">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Reporting &amp; Visualization</a:t>
            </a:r>
          </a:p>
        </p:txBody>
      </p:sp>
      <p:sp>
        <p:nvSpPr>
          <p:cNvPr id="3" name="Text Placeholder 2">
            <a:extLst>
              <a:ext uri="{FF2B5EF4-FFF2-40B4-BE49-F238E27FC236}">
                <a16:creationId xmlns:a16="http://schemas.microsoft.com/office/drawing/2014/main" id="{85518FD2-93EB-6CEB-AC0F-B1F4E424E2B6}"/>
              </a:ext>
            </a:extLst>
          </p:cNvPr>
          <p:cNvSpPr>
            <a:spLocks noGrp="1"/>
          </p:cNvSpPr>
          <p:nvPr>
            <p:ph type="body" sz="half" idx="2"/>
          </p:nvPr>
        </p:nvSpPr>
        <p:spPr>
          <a:xfrm>
            <a:off x="1214203" y="1845895"/>
            <a:ext cx="10053353" cy="3951111"/>
          </a:xfrm>
        </p:spPr>
        <p:txBody>
          <a:bodyPr>
            <a:normAutofit/>
          </a:bodyPr>
          <a:lstStyle/>
          <a:p>
            <a:pPr marL="342900" indent="-342900" algn="l">
              <a:buFont typeface="Wingdings" panose="05000000000000000000" pitchFamily="2" charset="2"/>
              <a:buChar char="§"/>
            </a:pPr>
            <a:r>
              <a:rPr lang="en-US" sz="2500" dirty="0">
                <a:latin typeface="Times New Roman" panose="02020603050405020304" pitchFamily="18" charset="0"/>
                <a:cs typeface="Times New Roman" panose="02020603050405020304" pitchFamily="18" charset="0"/>
              </a:rPr>
              <a:t>Visualizations and reports include:</a:t>
            </a:r>
          </a:p>
          <a:p>
            <a:pPr algn="l"/>
            <a:r>
              <a:rPr lang="en-US" sz="2500" dirty="0">
                <a:latin typeface="Times New Roman" panose="02020603050405020304" pitchFamily="18" charset="0"/>
                <a:cs typeface="Times New Roman" panose="02020603050405020304" pitchFamily="18" charset="0"/>
              </a:rPr>
              <a:t>  - Failure probabilities</a:t>
            </a:r>
          </a:p>
          <a:p>
            <a:pPr algn="l"/>
            <a:r>
              <a:rPr lang="en-US" sz="2500" dirty="0">
                <a:latin typeface="Times New Roman" panose="02020603050405020304" pitchFamily="18" charset="0"/>
                <a:cs typeface="Times New Roman" panose="02020603050405020304" pitchFamily="18" charset="0"/>
              </a:rPr>
              <a:t>  - Health scores</a:t>
            </a:r>
          </a:p>
          <a:p>
            <a:pPr algn="l"/>
            <a:r>
              <a:rPr lang="en-US" sz="2500" dirty="0">
                <a:latin typeface="Times New Roman" panose="02020603050405020304" pitchFamily="18" charset="0"/>
                <a:cs typeface="Times New Roman" panose="02020603050405020304" pitchFamily="18" charset="0"/>
              </a:rPr>
              <a:t>  - Risk watchlist (top turbines)</a:t>
            </a:r>
          </a:p>
          <a:p>
            <a:pPr algn="l"/>
            <a:r>
              <a:rPr lang="en-US" sz="2500" dirty="0">
                <a:latin typeface="Times New Roman" panose="02020603050405020304" pitchFamily="18" charset="0"/>
                <a:cs typeface="Times New Roman" panose="02020603050405020304" pitchFamily="18" charset="0"/>
              </a:rPr>
              <a:t>  - Danger bands (safe vs risky thresholds)</a:t>
            </a:r>
          </a:p>
          <a:p>
            <a:pPr marL="342900" indent="-342900" algn="l">
              <a:buFont typeface="Wingdings" panose="05000000000000000000" pitchFamily="2" charset="2"/>
              <a:buChar char="§"/>
            </a:pPr>
            <a:r>
              <a:rPr lang="en-US" sz="2500" dirty="0">
                <a:latin typeface="Times New Roman" panose="02020603050405020304" pitchFamily="18" charset="0"/>
                <a:cs typeface="Times New Roman" panose="02020603050405020304" pitchFamily="18" charset="0"/>
              </a:rPr>
              <a:t>Maintenance team gets actionable alerts</a:t>
            </a:r>
          </a:p>
          <a:p>
            <a:endParaRPr lang="en-IN" sz="2500" dirty="0"/>
          </a:p>
        </p:txBody>
      </p:sp>
    </p:spTree>
    <p:extLst>
      <p:ext uri="{BB962C8B-B14F-4D97-AF65-F5344CB8AC3E}">
        <p14:creationId xmlns:p14="http://schemas.microsoft.com/office/powerpoint/2010/main" val="25837678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E0BE8F-527C-9769-2452-C379473E7D3C}"/>
              </a:ext>
            </a:extLst>
          </p:cNvPr>
          <p:cNvSpPr>
            <a:spLocks noGrp="1"/>
          </p:cNvSpPr>
          <p:nvPr>
            <p:ph type="title"/>
          </p:nvPr>
        </p:nvSpPr>
        <p:spPr>
          <a:xfrm>
            <a:off x="913794" y="1060994"/>
            <a:ext cx="10353762" cy="1126367"/>
          </a:xfrm>
        </p:spPr>
        <p:txBody>
          <a:bodyPr/>
          <a:lstStyle/>
          <a:p>
            <a:pPr marL="457200" indent="-457200" algn="l">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Outcomes</a:t>
            </a:r>
            <a:endParaRPr lang="en-IN"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0A776302-C04F-6D5A-E024-A6E49B3035E7}"/>
              </a:ext>
            </a:extLst>
          </p:cNvPr>
          <p:cNvSpPr>
            <a:spLocks noGrp="1"/>
          </p:cNvSpPr>
          <p:nvPr>
            <p:ph type="body" sz="half" idx="2"/>
          </p:nvPr>
        </p:nvSpPr>
        <p:spPr>
          <a:xfrm>
            <a:off x="1319134" y="1905856"/>
            <a:ext cx="9948422" cy="3891150"/>
          </a:xfrm>
        </p:spPr>
        <p:txBody>
          <a:bodyPr/>
          <a:lstStyle/>
          <a:p>
            <a:pPr marL="342900" indent="-342900" algn="l">
              <a:buFont typeface="Wingdings" panose="05000000000000000000" pitchFamily="2" charset="2"/>
              <a:buChar char="§"/>
            </a:pPr>
            <a:r>
              <a:rPr lang="en-US" sz="2500" dirty="0">
                <a:latin typeface="Times New Roman" panose="02020603050405020304" pitchFamily="18" charset="0"/>
                <a:cs typeface="Times New Roman" panose="02020603050405020304" pitchFamily="18" charset="0"/>
              </a:rPr>
              <a:t>Early failure detection = Reduced downtime</a:t>
            </a:r>
          </a:p>
          <a:p>
            <a:pPr marL="342900" indent="-342900" algn="l">
              <a:buFont typeface="Wingdings" panose="05000000000000000000" pitchFamily="2" charset="2"/>
              <a:buChar char="§"/>
            </a:pPr>
            <a:r>
              <a:rPr lang="en-US" sz="2500" dirty="0">
                <a:latin typeface="Times New Roman" panose="02020603050405020304" pitchFamily="18" charset="0"/>
                <a:cs typeface="Times New Roman" panose="02020603050405020304" pitchFamily="18" charset="0"/>
              </a:rPr>
              <a:t>Optimized maintenance = Lower costs</a:t>
            </a:r>
          </a:p>
          <a:p>
            <a:pPr marL="342900" indent="-342900" algn="l">
              <a:buFont typeface="Wingdings" panose="05000000000000000000" pitchFamily="2" charset="2"/>
              <a:buChar char="§"/>
            </a:pPr>
            <a:r>
              <a:rPr lang="en-US" sz="2500" dirty="0">
                <a:latin typeface="Times New Roman" panose="02020603050405020304" pitchFamily="18" charset="0"/>
                <a:cs typeface="Times New Roman" panose="02020603050405020304" pitchFamily="18" charset="0"/>
              </a:rPr>
              <a:t>Higher turbine reliability &amp; efficiency</a:t>
            </a:r>
          </a:p>
          <a:p>
            <a:pPr marL="342900" indent="-342900" algn="l">
              <a:buFont typeface="Wingdings" panose="05000000000000000000" pitchFamily="2" charset="2"/>
              <a:buChar char="§"/>
            </a:pPr>
            <a:r>
              <a:rPr lang="en-US" sz="2500" dirty="0">
                <a:latin typeface="Times New Roman" panose="02020603050405020304" pitchFamily="18" charset="0"/>
                <a:cs typeface="Times New Roman" panose="02020603050405020304" pitchFamily="18" charset="0"/>
              </a:rPr>
              <a:t>Actionable insights for engineers</a:t>
            </a:r>
          </a:p>
          <a:p>
            <a:endParaRPr lang="en-IN" dirty="0"/>
          </a:p>
        </p:txBody>
      </p:sp>
    </p:spTree>
    <p:extLst>
      <p:ext uri="{BB962C8B-B14F-4D97-AF65-F5344CB8AC3E}">
        <p14:creationId xmlns:p14="http://schemas.microsoft.com/office/powerpoint/2010/main" val="39032392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0DC5DC-14E0-86A9-90BA-589ECD3D797B}"/>
              </a:ext>
            </a:extLst>
          </p:cNvPr>
          <p:cNvSpPr>
            <a:spLocks noGrp="1"/>
          </p:cNvSpPr>
          <p:nvPr>
            <p:ph type="title"/>
          </p:nvPr>
        </p:nvSpPr>
        <p:spPr>
          <a:xfrm>
            <a:off x="913795" y="416417"/>
            <a:ext cx="10353762" cy="1289154"/>
          </a:xfrm>
        </p:spPr>
        <p:txBody>
          <a:bodyPr/>
          <a:lstStyle/>
          <a:p>
            <a:pPr marL="457200" indent="-457200" algn="l">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Conclusion</a:t>
            </a:r>
            <a:endParaRPr lang="en-IN"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FF9915DC-428A-1C2D-8215-4B5A5EC0C26E}"/>
              </a:ext>
            </a:extLst>
          </p:cNvPr>
          <p:cNvSpPr>
            <a:spLocks noGrp="1"/>
          </p:cNvSpPr>
          <p:nvPr>
            <p:ph type="body" sz="half" idx="2"/>
          </p:nvPr>
        </p:nvSpPr>
        <p:spPr>
          <a:xfrm>
            <a:off x="1214203" y="1873771"/>
            <a:ext cx="10053353" cy="3923236"/>
          </a:xfrm>
        </p:spPr>
        <p:txBody>
          <a:bodyPr>
            <a:normAutofit/>
          </a:bodyPr>
          <a:lstStyle/>
          <a:p>
            <a:pPr marL="285750" indent="-285750" algn="l">
              <a:buFont typeface="Wingdings" panose="05000000000000000000" pitchFamily="2" charset="2"/>
              <a:buChar char="§"/>
            </a:pPr>
            <a:r>
              <a:rPr lang="en-US" dirty="0"/>
              <a:t> </a:t>
            </a:r>
            <a:r>
              <a:rPr lang="en-US" sz="2500" dirty="0">
                <a:latin typeface="Times New Roman" panose="02020603050405020304" pitchFamily="18" charset="0"/>
                <a:cs typeface="Times New Roman" panose="02020603050405020304" pitchFamily="18" charset="0"/>
              </a:rPr>
              <a:t>Predictive maintenance for turbines is feasible and effective</a:t>
            </a:r>
          </a:p>
          <a:p>
            <a:pPr marL="342900" indent="-342900" algn="l">
              <a:buFont typeface="Wingdings" panose="05000000000000000000" pitchFamily="2" charset="2"/>
              <a:buChar char="§"/>
            </a:pPr>
            <a:r>
              <a:rPr lang="en-US" sz="2500" dirty="0">
                <a:latin typeface="Times New Roman" panose="02020603050405020304" pitchFamily="18" charset="0"/>
                <a:cs typeface="Times New Roman" panose="02020603050405020304" pitchFamily="18" charset="0"/>
              </a:rPr>
              <a:t>Random Forest chosen for accuracy, stability, and interpretability</a:t>
            </a:r>
          </a:p>
          <a:p>
            <a:pPr marL="342900" indent="-342900" algn="l">
              <a:buFont typeface="Wingdings" panose="05000000000000000000" pitchFamily="2" charset="2"/>
              <a:buChar char="§"/>
            </a:pPr>
            <a:r>
              <a:rPr lang="en-US" sz="2500" dirty="0">
                <a:latin typeface="Times New Roman" panose="02020603050405020304" pitchFamily="18" charset="0"/>
                <a:cs typeface="Times New Roman" panose="02020603050405020304" pitchFamily="18" charset="0"/>
              </a:rPr>
              <a:t>Next steps:</a:t>
            </a:r>
          </a:p>
          <a:p>
            <a:pPr marL="342900" indent="-342900" algn="l">
              <a:buFont typeface="Wingdings" panose="05000000000000000000" pitchFamily="2" charset="2"/>
              <a:buChar char="§"/>
            </a:pPr>
            <a:r>
              <a:rPr lang="en-US" sz="2500" dirty="0">
                <a:latin typeface="Times New Roman" panose="02020603050405020304" pitchFamily="18" charset="0"/>
                <a:cs typeface="Times New Roman" panose="02020603050405020304" pitchFamily="18" charset="0"/>
              </a:rPr>
              <a:t>  - Integrate live streaming data</a:t>
            </a:r>
          </a:p>
          <a:p>
            <a:pPr marL="342900" indent="-342900" algn="l">
              <a:buFont typeface="Wingdings" panose="05000000000000000000" pitchFamily="2" charset="2"/>
              <a:buChar char="§"/>
            </a:pPr>
            <a:r>
              <a:rPr lang="en-US" sz="2500" dirty="0">
                <a:latin typeface="Times New Roman" panose="02020603050405020304" pitchFamily="18" charset="0"/>
                <a:cs typeface="Times New Roman" panose="02020603050405020304" pitchFamily="18" charset="0"/>
              </a:rPr>
              <a:t>  - Enhance IoT dashboards</a:t>
            </a:r>
          </a:p>
          <a:p>
            <a:pPr marL="342900" indent="-342900" algn="l">
              <a:buFont typeface="Wingdings" panose="05000000000000000000" pitchFamily="2" charset="2"/>
              <a:buChar char="§"/>
            </a:pPr>
            <a:r>
              <a:rPr lang="en-US" sz="2500" dirty="0">
                <a:latin typeface="Times New Roman" panose="02020603050405020304" pitchFamily="18" charset="0"/>
                <a:cs typeface="Times New Roman" panose="02020603050405020304" pitchFamily="18" charset="0"/>
              </a:rPr>
              <a:t>  - Refine thresholds for real-time alarms</a:t>
            </a:r>
          </a:p>
          <a:p>
            <a:endParaRPr lang="en-IN" dirty="0"/>
          </a:p>
        </p:txBody>
      </p:sp>
    </p:spTree>
    <p:extLst>
      <p:ext uri="{BB962C8B-B14F-4D97-AF65-F5344CB8AC3E}">
        <p14:creationId xmlns:p14="http://schemas.microsoft.com/office/powerpoint/2010/main" val="42563547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74C367-ABF3-CDAB-7A87-3A6828D92925}"/>
              </a:ext>
            </a:extLst>
          </p:cNvPr>
          <p:cNvSpPr>
            <a:spLocks noGrp="1"/>
          </p:cNvSpPr>
          <p:nvPr>
            <p:ph type="title"/>
          </p:nvPr>
        </p:nvSpPr>
        <p:spPr>
          <a:xfrm>
            <a:off x="913795" y="609600"/>
            <a:ext cx="10353761" cy="5491397"/>
          </a:xfrm>
        </p:spPr>
        <p:txBody>
          <a:bodyPr>
            <a:normAutofit/>
          </a:bodyPr>
          <a:lstStyle/>
          <a:p>
            <a:r>
              <a:rPr lang="en-US" sz="8800" i="1"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tHANK</a:t>
            </a:r>
            <a:r>
              <a:rPr lang="en-US" sz="8800"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you!</a:t>
            </a:r>
            <a:endParaRPr lang="en-IN" sz="8800"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3380092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Damask">
  <a:themeElements>
    <a:clrScheme name="Damask">
      <a:dk1>
        <a:sysClr val="windowText" lastClr="000000"/>
      </a:dk1>
      <a:lt1>
        <a:sysClr val="window" lastClr="FFFFFF"/>
      </a:lt1>
      <a:dk2>
        <a:srgbClr val="2A5B7F"/>
      </a:dk2>
      <a:lt2>
        <a:srgbClr val="ABDAFC"/>
      </a:lt2>
      <a:accent1>
        <a:srgbClr val="9EC544"/>
      </a:accent1>
      <a:accent2>
        <a:srgbClr val="50BEA3"/>
      </a:accent2>
      <a:accent3>
        <a:srgbClr val="4A9CCC"/>
      </a:accent3>
      <a:accent4>
        <a:srgbClr val="9A66CA"/>
      </a:accent4>
      <a:accent5>
        <a:srgbClr val="C54F71"/>
      </a:accent5>
      <a:accent6>
        <a:srgbClr val="DE9C3C"/>
      </a:accent6>
      <a:hlink>
        <a:srgbClr val="6BA9DA"/>
      </a:hlink>
      <a:folHlink>
        <a:srgbClr val="A0BCD3"/>
      </a:folHlink>
    </a:clrScheme>
    <a:fontScheme name="Damask">
      <a:majorFont>
        <a:latin typeface="Bookman Old Style" panose="02050604050505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ockwell" panose="020606030202050204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amask">
      <a:fillStyleLst>
        <a:solidFill>
          <a:schemeClr val="phClr"/>
        </a:solidFill>
        <a:gradFill rotWithShape="1">
          <a:gsLst>
            <a:gs pos="0">
              <a:schemeClr val="phClr">
                <a:tint val="48000"/>
                <a:satMod val="105000"/>
                <a:lumMod val="110000"/>
              </a:schemeClr>
            </a:gs>
            <a:gs pos="100000">
              <a:schemeClr val="phClr">
                <a:tint val="78000"/>
                <a:satMod val="109000"/>
                <a:lumMod val="100000"/>
              </a:schemeClr>
            </a:gs>
          </a:gsLst>
          <a:lin ang="5400000" scaled="0"/>
        </a:gradFill>
        <a:gradFill rotWithShape="1">
          <a:gsLst>
            <a:gs pos="0">
              <a:schemeClr val="phClr">
                <a:tint val="94000"/>
                <a:satMod val="100000"/>
                <a:lumMod val="104000"/>
              </a:schemeClr>
            </a:gs>
            <a:gs pos="69000">
              <a:schemeClr val="phClr">
                <a:shade val="86000"/>
                <a:satMod val="130000"/>
                <a:lumMod val="102000"/>
              </a:schemeClr>
            </a:gs>
            <a:gs pos="100000">
              <a:schemeClr val="phClr">
                <a:shade val="72000"/>
                <a:satMod val="130000"/>
                <a:lumMod val="100000"/>
              </a:schemeClr>
            </a:gs>
          </a:gsLst>
          <a:lin ang="5400000" scaled="0"/>
        </a:gradFill>
      </a:fillStyleLst>
      <a:lnStyleLst>
        <a:ln w="12700"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50800" dist="38100" dir="5400000" sy="96000" rotWithShape="0">
              <a:srgbClr val="000000">
                <a:alpha val="54000"/>
              </a:srgbClr>
            </a:outerShdw>
          </a:effectLst>
        </a:effectStyle>
        <a:effectStyle>
          <a:effectLst>
            <a:outerShdw blurRad="76200" dist="38100" dir="5400000" algn="ctr" rotWithShape="0">
              <a:srgbClr val="000000">
                <a:alpha val="76000"/>
              </a:srgbClr>
            </a:outerShdw>
          </a:effectLst>
          <a:scene3d>
            <a:camera prst="orthographicFront">
              <a:rot lat="0" lon="0" rev="0"/>
            </a:camera>
            <a:lightRig rig="balanced" dir="t"/>
          </a:scene3d>
          <a:sp3d prstMaterial="matte">
            <a:bevelT w="25400" h="25400" prst="relaxedInset"/>
          </a:sp3d>
        </a:effectStyle>
      </a:effectStyleLst>
      <a:bgFillStyleLst>
        <a:solidFill>
          <a:schemeClr val="phClr"/>
        </a:solidFill>
        <a:solidFill>
          <a:schemeClr val="phClr">
            <a:tint val="95000"/>
            <a:satMod val="170000"/>
          </a:schemeClr>
        </a:solidFill>
        <a:blipFill rotWithShape="1">
          <a:blip xmlns:r="http://schemas.openxmlformats.org/officeDocument/2006/relationships" r:embed="rId1">
            <a:duotone>
              <a:schemeClr val="phClr">
                <a:shade val="18000"/>
                <a:satMod val="160000"/>
                <a:lumMod val="28000"/>
              </a:schemeClr>
              <a:schemeClr val="phClr">
                <a:tint val="95000"/>
                <a:satMod val="160000"/>
                <a:lumMod val="116000"/>
              </a:schemeClr>
            </a:duotone>
          </a:blip>
          <a:stretch/>
        </a:blipFill>
      </a:bgFillStyleLst>
    </a:fmtScheme>
  </a:themeElements>
  <a:objectDefaults/>
  <a:extraClrSchemeLst/>
  <a:extLst>
    <a:ext uri="{05A4C25C-085E-4340-85A3-A5531E510DB2}">
      <thm15:themeFamily xmlns:thm15="http://schemas.microsoft.com/office/thememl/2012/main" name="Damask" id="{F9A299A0-33D0-4E0F-9F3F-7163E3744208}" vid="{746EEEEA-FB6A-406B-B510-531588D54811}"/>
    </a:ext>
  </a:extLst>
</a:theme>
</file>

<file path=docProps/app.xml><?xml version="1.0" encoding="utf-8"?>
<Properties xmlns="http://schemas.openxmlformats.org/officeDocument/2006/extended-properties" xmlns:vt="http://schemas.openxmlformats.org/officeDocument/2006/docPropsVTypes">
  <Template>Damask</Template>
  <TotalTime>401</TotalTime>
  <Words>530</Words>
  <Application>Microsoft Office PowerPoint</Application>
  <PresentationFormat>Widescreen</PresentationFormat>
  <Paragraphs>68</Paragraphs>
  <Slides>15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Arial</vt:lpstr>
      <vt:lpstr>Bookman Old Style</vt:lpstr>
      <vt:lpstr>Rockwell</vt:lpstr>
      <vt:lpstr>Times New Roman</vt:lpstr>
      <vt:lpstr>Wingdings</vt:lpstr>
      <vt:lpstr>Damask</vt:lpstr>
      <vt:lpstr>Turbine Health Monitoring and Failure Forecasting</vt:lpstr>
      <vt:lpstr>abstract  This Project Develops A Machine Learning Model To Monitor Wind Turbine Health And Predict Potential Failures. By Analyzing Operational Parameters Such As Wind Speed, Temperature, And Vibration, The System Identifies Patterns Leading To Faults. The Model Enables Early Detection Of Failures, Helping To Reduce Downtime, Improve Maintenance Planning, And Enhance Overall Efficiency Of Wind Turbine Operations. </vt:lpstr>
      <vt:lpstr>Objective </vt:lpstr>
      <vt:lpstr>Approach Overview</vt:lpstr>
      <vt:lpstr>Data Exploration &amp; Preprocessing  Load Dataset (9,000 Rows, Multiple Sensors + Failure Labels) Clean Data (Missing Values, Duplicates, Consistency)  Encode Categorical Variables (E.G., Faulttype) </vt:lpstr>
      <vt:lpstr>Exploratory Data Analysis (EDA)</vt:lpstr>
      <vt:lpstr>Model Selection &amp; Training</vt:lpstr>
      <vt:lpstr>Failure Type Prediction</vt:lpstr>
      <vt:lpstr>PowerPoint Presentation</vt:lpstr>
      <vt:lpstr>Hyperparameter Tuning</vt:lpstr>
      <vt:lpstr>Deployment</vt:lpstr>
      <vt:lpstr>Reporting &amp; Visualization</vt:lpstr>
      <vt:lpstr>Outcomes</vt:lpstr>
      <vt:lpstr>Conclusion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Pranithreddy Kasireddy</dc:creator>
  <cp:lastModifiedBy>Pranithreddy Kasireddy</cp:lastModifiedBy>
  <cp:revision>2</cp:revision>
  <dcterms:created xsi:type="dcterms:W3CDTF">2026-04-19T15:56:16Z</dcterms:created>
  <dcterms:modified xsi:type="dcterms:W3CDTF">2026-04-22T14:30:46Z</dcterms:modified>
</cp:coreProperties>
</file>